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96" r:id="rId1"/>
  </p:sldMasterIdLst>
  <p:notesMasterIdLst>
    <p:notesMasterId r:id="rId23"/>
  </p:notesMasterIdLst>
  <p:sldIdLst>
    <p:sldId id="272" r:id="rId2"/>
    <p:sldId id="256" r:id="rId3"/>
    <p:sldId id="282" r:id="rId4"/>
    <p:sldId id="283" r:id="rId5"/>
    <p:sldId id="284" r:id="rId6"/>
    <p:sldId id="285" r:id="rId7"/>
    <p:sldId id="286" r:id="rId8"/>
    <p:sldId id="289" r:id="rId9"/>
    <p:sldId id="295" r:id="rId10"/>
    <p:sldId id="297" r:id="rId11"/>
    <p:sldId id="287" r:id="rId12"/>
    <p:sldId id="288" r:id="rId13"/>
    <p:sldId id="305" r:id="rId14"/>
    <p:sldId id="298" r:id="rId15"/>
    <p:sldId id="306" r:id="rId16"/>
    <p:sldId id="300" r:id="rId17"/>
    <p:sldId id="303" r:id="rId18"/>
    <p:sldId id="304" r:id="rId19"/>
    <p:sldId id="302" r:id="rId20"/>
    <p:sldId id="294" r:id="rId21"/>
    <p:sldId id="293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651" autoAdjust="0"/>
    <p:restoredTop sz="94641" autoAdjust="0"/>
  </p:normalViewPr>
  <p:slideViewPr>
    <p:cSldViewPr snapToGrid="0">
      <p:cViewPr varScale="1">
        <p:scale>
          <a:sx n="78" d="100"/>
          <a:sy n="78" d="100"/>
        </p:scale>
        <p:origin x="1032" y="43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9A149C-13A9-43F8-AE94-F73C90CE2F4C}" type="datetimeFigureOut">
              <a:rPr lang="en-IN" smtClean="0"/>
              <a:t>03-06-2026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6828978-61B6-4E74-96F7-A9020E81DF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67924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CC262E-7894-AE08-C8F6-AAB91AC2B3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D7ABB4B-FFD1-4067-ED26-8A8752B8EA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0B043B3-7B91-5CA4-4EAB-F5AECB72A8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3B2E08-036B-42BA-7159-64BF50B398B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828978-61B6-4E74-96F7-A9020E81DFD1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43971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54609F-721D-81F2-8EFB-3C2581D319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A667128-EC94-339D-4C20-82D5505799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3F4EA86-F567-9E28-C272-6851E59FDD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2FD8FC-D5ED-62D4-A278-EB17C4D043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828978-61B6-4E74-96F7-A9020E81DFD1}" type="slidenum">
              <a:rPr lang="en-IN" smtClean="0"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719497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29E8A5-AFD0-2C66-AE0E-B7FA913A12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7A0635-3101-E454-4E04-7E87143B42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197C463-45B3-9926-4433-9AD12CE4A2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D9ABA7-AF36-F7D1-07C6-9455020C9C0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828978-61B6-4E74-96F7-A9020E81DFD1}" type="slidenum">
              <a:rPr lang="en-IN" smtClean="0"/>
              <a:t>15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096070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6CACA1-A6EB-8D21-5CEB-D1D730C064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1D29D10-81F3-6316-E86F-3C37654000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7FABFFE-C2B6-725A-D9E2-7116F006A5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BBE66C-9BC3-E556-87CE-09B061909D1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828978-61B6-4E74-96F7-A9020E81DFD1}" type="slidenum">
              <a:rPr lang="en-IN" smtClean="0"/>
              <a:t>16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55227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C8FFB9-2474-6023-640F-21BC9BA4BA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1AAC553-4A57-A69A-52D7-B673A523A5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8B54F31-0516-579A-B58E-966849572B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5741CA-6AEB-9708-C598-30E6AE72B03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828978-61B6-4E74-96F7-A9020E81DFD1}" type="slidenum">
              <a:rPr lang="en-IN" smtClean="0"/>
              <a:t>17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793961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8C53D1-CCE3-4EB5-5FA2-8C9D8C7853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95DD4B0-856F-03D4-A05F-58DB4A31BF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9B84229-82E9-1D88-1BFA-534B912662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6620AA-1698-7EF4-17E3-CCEFA334BA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828978-61B6-4E74-96F7-A9020E81DFD1}" type="slidenum">
              <a:rPr lang="en-IN" smtClean="0"/>
              <a:t>18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0462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0B2719-0FEE-E0A3-58B6-2A071C5C0F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2D0E001-2192-8153-9C84-90FF46B384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3AD057D-89F2-F3AC-BC80-B85D9B0ADB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3CF77F-8FE6-A9D3-609D-86247D93C0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828978-61B6-4E74-96F7-A9020E81DFD1}" type="slidenum">
              <a:rPr lang="en-IN" smtClean="0"/>
              <a:t>19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416487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828978-61B6-4E74-96F7-A9020E81DFD1}" type="slidenum">
              <a:rPr lang="en-IN" smtClean="0"/>
              <a:t>20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2279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09800" y="4464028"/>
            <a:ext cx="9144000" cy="1641490"/>
          </a:xfrm>
        </p:spPr>
        <p:txBody>
          <a:bodyPr wrap="none" anchor="t">
            <a:normAutofit/>
          </a:bodyPr>
          <a:lstStyle>
            <a:lvl1pPr algn="r">
              <a:defRPr sz="9600" b="0" spc="-300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09799" y="3694375"/>
            <a:ext cx="9144000" cy="754025"/>
          </a:xfrm>
        </p:spPr>
        <p:txBody>
          <a:bodyPr anchor="b">
            <a:normAutofit/>
          </a:bodyPr>
          <a:lstStyle>
            <a:lvl1pPr marL="0" indent="0" algn="r">
              <a:buNone/>
              <a:defRPr sz="32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57F46E-5502-4B73-AF58-CE9D62A39DA3}" type="datetime1">
              <a:rPr lang="en-IN" smtClean="0"/>
              <a:t>03-06-2026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E5D90C-BE40-4037-AC5E-CD620FE48C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90243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73251F-E791-4241-A0D6-6FAC1D740AE7}" type="datetime1">
              <a:rPr lang="en-IN" smtClean="0"/>
              <a:t>03-06-2026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E5D90C-BE40-4037-AC5E-CD620FE48C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86281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854532" y="4464028"/>
            <a:ext cx="9144000" cy="1641490"/>
          </a:xfrm>
        </p:spPr>
        <p:txBody>
          <a:bodyPr wrap="none" anchor="t">
            <a:normAutofit/>
          </a:bodyPr>
          <a:lstStyle>
            <a:lvl1pPr algn="l">
              <a:defRPr sz="9600" b="0" spc="-300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47000"/>
                        <a:lumOff val="53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Subtitle 2"/>
          <p:cNvSpPr>
            <a:spLocks noGrp="1"/>
          </p:cNvSpPr>
          <p:nvPr>
            <p:ph type="subTitle" idx="1"/>
          </p:nvPr>
        </p:nvSpPr>
        <p:spPr>
          <a:xfrm>
            <a:off x="854532" y="3693674"/>
            <a:ext cx="9144000" cy="754025"/>
          </a:xfrm>
        </p:spPr>
        <p:txBody>
          <a:bodyPr anchor="b">
            <a:normAutofit/>
          </a:bodyPr>
          <a:lstStyle>
            <a:lvl1pPr marL="0" indent="0" algn="l">
              <a:buNone/>
              <a:defRPr sz="32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49A33-8946-4B39-A3D1-627828C1F7BE}" type="datetime1">
              <a:rPr lang="en-IN" smtClean="0"/>
              <a:t>03-06-2026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E5D90C-BE40-4037-AC5E-CD620FE48C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66634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20000" y="1825625"/>
            <a:ext cx="5025216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19840" y="1825625"/>
            <a:ext cx="503396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DA445D-4186-4BDC-ACD1-DB17D9D64E19}" type="datetime1">
              <a:rPr lang="en-IN" smtClean="0"/>
              <a:t>03-06-2026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E5D90C-BE40-4037-AC5E-CD620FE48C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26698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0000" y="1681163"/>
            <a:ext cx="5025216" cy="823912"/>
          </a:xfrm>
        </p:spPr>
        <p:txBody>
          <a:bodyPr anchor="b"/>
          <a:lstStyle>
            <a:lvl1pPr marL="0" indent="0">
              <a:buNone/>
              <a:defRPr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20000" y="2505075"/>
            <a:ext cx="5025216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19840" y="1681163"/>
            <a:ext cx="5035548" cy="82391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19840" y="2505075"/>
            <a:ext cx="503554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512D25-34D1-4FCA-92E4-E84F9B2D814E}" type="datetime1">
              <a:rPr lang="en-IN" smtClean="0"/>
              <a:t>03-06-2026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E5D90C-BE40-4037-AC5E-CD620FE48C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22356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F1CF3-9C42-4066-8ACF-6510AF28DC30}" type="datetime1">
              <a:rPr lang="en-IN" smtClean="0"/>
              <a:t>03-06-2026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E5D90C-BE40-4037-AC5E-CD620FE48C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20777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7ADF65-9A2F-498B-AB4E-9E569B557858}" type="datetime1">
              <a:rPr lang="en-IN" smtClean="0"/>
              <a:t>03-06-2026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E5D90C-BE40-4037-AC5E-CD620FE48C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02122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0000" y="2057400"/>
            <a:ext cx="3652025" cy="3811588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7A8E57-E2EC-4E82-BABB-DC35A0C0B12D}" type="datetime1">
              <a:rPr lang="en-IN" smtClean="0"/>
              <a:t>03-06-2026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E5D90C-BE40-4037-AC5E-CD620FE48C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00762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0000" y="2057400"/>
            <a:ext cx="3652025" cy="3811588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6C65A5-0D18-45F7-9D3B-B896E5C32051}" type="datetime1">
              <a:rPr lang="en-IN" smtClean="0"/>
              <a:t>03-06-2026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E5D90C-BE40-4037-AC5E-CD620FE48C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98711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367160"/>
            <a:ext cx="10515600" cy="81935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39788" y="987425"/>
            <a:ext cx="10515600" cy="337973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5186516"/>
            <a:ext cx="10514012" cy="682472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33EE69-DAC9-43B9-976D-A8ECDB3689A4}" type="datetime1">
              <a:rPr lang="en-IN" smtClean="0"/>
              <a:t>03-06-2026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E5D90C-BE40-4037-AC5E-CD620FE48C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90734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489399"/>
            <a:ext cx="10514012" cy="1501826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A6CF7-70BF-4C38-ACFB-6D4CA0571C0D}" type="datetime1">
              <a:rPr lang="en-IN" smtClean="0"/>
              <a:t>03-06-2026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E5D90C-BE40-4037-AC5E-CD620FE48C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94251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365125"/>
            <a:ext cx="9302752" cy="2992904"/>
          </a:xfrm>
        </p:spPr>
        <p:txBody>
          <a:bodyPr anchor="ctr"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4501729"/>
            <a:ext cx="10512424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F59EA2-F632-4FA1-8E81-6AE248320B55}" type="datetime1">
              <a:rPr lang="en-IN" smtClean="0"/>
              <a:t>03-06-2026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E5D90C-BE40-4037-AC5E-CD620FE48C47}" type="slidenum">
              <a:rPr lang="en-IN" smtClean="0"/>
              <a:t>‹#›</a:t>
            </a:fld>
            <a:endParaRPr lang="en-IN"/>
          </a:p>
        </p:txBody>
      </p:sp>
      <p:sp>
        <p:nvSpPr>
          <p:cNvPr id="9" name="TextBox 8"/>
          <p:cNvSpPr txBox="1"/>
          <p:nvPr/>
        </p:nvSpPr>
        <p:spPr>
          <a:xfrm>
            <a:off x="1111044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72142891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2326967"/>
            <a:ext cx="10515600" cy="2511835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850581"/>
            <a:ext cx="10514012" cy="1140644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03ED84-3CCD-4AD0-9A90-0DD00740D2DA}" type="datetime1">
              <a:rPr lang="en-IN" smtClean="0"/>
              <a:t>03-06-2026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E5D90C-BE40-4037-AC5E-CD620FE48C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042486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337282" y="188595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356798" y="257175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87994" y="1885950"/>
            <a:ext cx="2936241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77441" y="257175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29035" y="1885950"/>
            <a:ext cx="2932113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2400" b="0" dirty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29035" y="257175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640031-2325-4B47-B8E3-6EBA84B4851E}" type="datetime1">
              <a:rPr lang="en-IN" smtClean="0"/>
              <a:t>03-06-2026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E5D90C-BE40-4037-AC5E-CD620FE48C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838562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332085" y="4297503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2085" y="2256354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332085" y="4873765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997" y="4297503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56354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67644" y="4873764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04322" y="4297503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04321" y="2256354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04197" y="4873762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CD52A7-2F27-401F-9802-A3D2CE565FF9}" type="datetime1">
              <a:rPr lang="en-IN" smtClean="0"/>
              <a:t>03-06-2026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E5D90C-BE40-4037-AC5E-CD620FE48C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848412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B595B8-4AFD-4D13-9DDF-7CCAC587D815}" type="datetime1">
              <a:rPr lang="en-IN" smtClean="0"/>
              <a:t>03-06-2026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E5D90C-BE40-4037-AC5E-CD620FE48C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007916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CEEC6-F438-4A4F-A2A3-5E27ACB65144}" type="datetime1">
              <a:rPr lang="en-IN" smtClean="0"/>
              <a:t>03-06-2026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E5D90C-BE40-4037-AC5E-CD620FE48C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77541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9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0000" y="1825625"/>
            <a:ext cx="102338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fld id="{8F329D5E-7A9C-4C6F-9739-07B90D897151}" type="datetime1">
              <a:rPr lang="en-IN" smtClean="0"/>
              <a:t>03-06-2026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fld id="{07E5D90C-BE40-4037-AC5E-CD620FE48C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699967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  <p:sldLayoutId id="2147483709" r:id="rId13"/>
    <p:sldLayoutId id="2147483710" r:id="rId14"/>
    <p:sldLayoutId id="2147483711" r:id="rId15"/>
    <p:sldLayoutId id="2147483712" r:id="rId16"/>
    <p:sldLayoutId id="2147483713" r:id="rId17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b="0" kern="1200">
          <a:gradFill flip="none" rotWithShape="1">
            <a:gsLst>
              <a:gs pos="28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  <a:tileRect/>
          </a:gra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7" Type="http://schemas.openxmlformats.org/officeDocument/2006/relationships/image" Target="../media/image5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Relationship Id="rId6" Type="http://schemas.microsoft.com/office/2007/relationships/hdphoto" Target="../media/hdphoto1.wdp"/><Relationship Id="rId5" Type="http://schemas.openxmlformats.org/officeDocument/2006/relationships/image" Target="../media/image4.png"/><Relationship Id="rId4" Type="http://schemas.openxmlformats.org/officeDocument/2006/relationships/hyperlink" Target="tel:08234-28841-419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7" Type="http://schemas.openxmlformats.org/officeDocument/2006/relationships/image" Target="../media/image5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Relationship Id="rId6" Type="http://schemas.microsoft.com/office/2007/relationships/hdphoto" Target="../media/hdphoto1.wdp"/><Relationship Id="rId5" Type="http://schemas.openxmlformats.org/officeDocument/2006/relationships/image" Target="../media/image4.png"/><Relationship Id="rId4" Type="http://schemas.openxmlformats.org/officeDocument/2006/relationships/hyperlink" Target="tel:08234-28841-419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7" Type="http://schemas.openxmlformats.org/officeDocument/2006/relationships/image" Target="../media/image5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6" Type="http://schemas.microsoft.com/office/2007/relationships/hdphoto" Target="../media/hdphoto1.wdp"/><Relationship Id="rId5" Type="http://schemas.openxmlformats.org/officeDocument/2006/relationships/image" Target="../media/image4.png"/><Relationship Id="rId4" Type="http://schemas.openxmlformats.org/officeDocument/2006/relationships/hyperlink" Target="tel:08234-28841-419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7" Type="http://schemas.openxmlformats.org/officeDocument/2006/relationships/image" Target="../media/image5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6" Type="http://schemas.microsoft.com/office/2007/relationships/hdphoto" Target="../media/hdphoto1.wdp"/><Relationship Id="rId5" Type="http://schemas.openxmlformats.org/officeDocument/2006/relationships/image" Target="../media/image4.png"/><Relationship Id="rId4" Type="http://schemas.openxmlformats.org/officeDocument/2006/relationships/hyperlink" Target="tel:08234-28841-419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7" Type="http://schemas.openxmlformats.org/officeDocument/2006/relationships/image" Target="../media/image5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6" Type="http://schemas.microsoft.com/office/2007/relationships/hdphoto" Target="../media/hdphoto1.wdp"/><Relationship Id="rId5" Type="http://schemas.openxmlformats.org/officeDocument/2006/relationships/image" Target="../media/image4.png"/><Relationship Id="rId4" Type="http://schemas.openxmlformats.org/officeDocument/2006/relationships/hyperlink" Target="tel:08234-28841-419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7" Type="http://schemas.openxmlformats.org/officeDocument/2006/relationships/image" Target="../media/image5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6" Type="http://schemas.microsoft.com/office/2007/relationships/hdphoto" Target="../media/hdphoto1.wdp"/><Relationship Id="rId5" Type="http://schemas.openxmlformats.org/officeDocument/2006/relationships/image" Target="../media/image4.png"/><Relationship Id="rId4" Type="http://schemas.openxmlformats.org/officeDocument/2006/relationships/hyperlink" Target="tel:08234-28841-419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7" Type="http://schemas.openxmlformats.org/officeDocument/2006/relationships/image" Target="../media/image5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6" Type="http://schemas.microsoft.com/office/2007/relationships/hdphoto" Target="../media/hdphoto1.wdp"/><Relationship Id="rId5" Type="http://schemas.openxmlformats.org/officeDocument/2006/relationships/image" Target="../media/image4.png"/><Relationship Id="rId4" Type="http://schemas.openxmlformats.org/officeDocument/2006/relationships/hyperlink" Target="tel:08234-28841-419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7" Type="http://schemas.openxmlformats.org/officeDocument/2006/relationships/image" Target="../media/image5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6" Type="http://schemas.microsoft.com/office/2007/relationships/hdphoto" Target="../media/hdphoto1.wdp"/><Relationship Id="rId5" Type="http://schemas.openxmlformats.org/officeDocument/2006/relationships/image" Target="../media/image4.png"/><Relationship Id="rId4" Type="http://schemas.openxmlformats.org/officeDocument/2006/relationships/hyperlink" Target="tel:08234-28841-419" TargetMode="Externa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3.jpg"/><Relationship Id="rId7" Type="http://schemas.openxmlformats.org/officeDocument/2006/relationships/image" Target="../media/image5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6" Type="http://schemas.microsoft.com/office/2007/relationships/hdphoto" Target="../media/hdphoto1.wdp"/><Relationship Id="rId5" Type="http://schemas.openxmlformats.org/officeDocument/2006/relationships/image" Target="../media/image4.png"/><Relationship Id="rId4" Type="http://schemas.openxmlformats.org/officeDocument/2006/relationships/hyperlink" Target="tel:08234-28841-419" TargetMode="Externa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jpg"/><Relationship Id="rId3" Type="http://schemas.openxmlformats.org/officeDocument/2006/relationships/image" Target="../media/image2.jpg"/><Relationship Id="rId7" Type="http://schemas.microsoft.com/office/2007/relationships/hdphoto" Target="../media/hdphoto1.wdp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hyperlink" Target="tel:08234-28841-419" TargetMode="External"/><Relationship Id="rId4" Type="http://schemas.openxmlformats.org/officeDocument/2006/relationships/image" Target="../media/image3.jpg"/><Relationship Id="rId9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7" Type="http://schemas.openxmlformats.org/officeDocument/2006/relationships/image" Target="../media/image5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6" Type="http://schemas.microsoft.com/office/2007/relationships/hdphoto" Target="../media/hdphoto1.wdp"/><Relationship Id="rId5" Type="http://schemas.openxmlformats.org/officeDocument/2006/relationships/image" Target="../media/image4.png"/><Relationship Id="rId4" Type="http://schemas.openxmlformats.org/officeDocument/2006/relationships/hyperlink" Target="tel:08234-28841-419" TargetMode="Externa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7" Type="http://schemas.openxmlformats.org/officeDocument/2006/relationships/image" Target="../media/image5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6" Type="http://schemas.microsoft.com/office/2007/relationships/hdphoto" Target="../media/hdphoto1.wdp"/><Relationship Id="rId5" Type="http://schemas.openxmlformats.org/officeDocument/2006/relationships/image" Target="../media/image4.png"/><Relationship Id="rId4" Type="http://schemas.openxmlformats.org/officeDocument/2006/relationships/hyperlink" Target="tel:08234-28841-419" TargetMode="Externa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7" Type="http://schemas.openxmlformats.org/officeDocument/2006/relationships/image" Target="../media/image5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6" Type="http://schemas.microsoft.com/office/2007/relationships/hdphoto" Target="../media/hdphoto1.wdp"/><Relationship Id="rId5" Type="http://schemas.openxmlformats.org/officeDocument/2006/relationships/image" Target="../media/image4.png"/><Relationship Id="rId4" Type="http://schemas.openxmlformats.org/officeDocument/2006/relationships/hyperlink" Target="tel:08234-28841-419" TargetMode="Externa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jpg"/><Relationship Id="rId3" Type="http://schemas.openxmlformats.org/officeDocument/2006/relationships/image" Target="../media/image2.jpg"/><Relationship Id="rId7" Type="http://schemas.microsoft.com/office/2007/relationships/hdphoto" Target="../media/hdphoto1.wdp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hyperlink" Target="tel:08234-28841-419" TargetMode="External"/><Relationship Id="rId10" Type="http://schemas.openxmlformats.org/officeDocument/2006/relationships/image" Target="../media/image9.png"/><Relationship Id="rId4" Type="http://schemas.openxmlformats.org/officeDocument/2006/relationships/image" Target="../media/image3.jpg"/><Relationship Id="rId9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jpg"/><Relationship Id="rId3" Type="http://schemas.openxmlformats.org/officeDocument/2006/relationships/image" Target="../media/image2.jpg"/><Relationship Id="rId7" Type="http://schemas.microsoft.com/office/2007/relationships/hdphoto" Target="../media/hdphoto1.wdp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hyperlink" Target="tel:08234-28841-419" TargetMode="External"/><Relationship Id="rId10" Type="http://schemas.openxmlformats.org/officeDocument/2006/relationships/image" Target="../media/image11.jpeg"/><Relationship Id="rId4" Type="http://schemas.openxmlformats.org/officeDocument/2006/relationships/image" Target="../media/image3.jpg"/><Relationship Id="rId9" Type="http://schemas.openxmlformats.org/officeDocument/2006/relationships/image" Target="../media/image10.jpe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jpg"/><Relationship Id="rId3" Type="http://schemas.openxmlformats.org/officeDocument/2006/relationships/image" Target="../media/image2.jpg"/><Relationship Id="rId7" Type="http://schemas.microsoft.com/office/2007/relationships/hdphoto" Target="../media/hdphoto1.wdp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hyperlink" Target="tel:08234-28841-419" TargetMode="External"/><Relationship Id="rId4" Type="http://schemas.openxmlformats.org/officeDocument/2006/relationships/image" Target="../media/image3.jp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jpg"/><Relationship Id="rId3" Type="http://schemas.openxmlformats.org/officeDocument/2006/relationships/image" Target="../media/image2.jpg"/><Relationship Id="rId7" Type="http://schemas.microsoft.com/office/2007/relationships/hdphoto" Target="../media/hdphoto1.wdp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hyperlink" Target="tel:08234-28841-419" TargetMode="External"/><Relationship Id="rId4" Type="http://schemas.openxmlformats.org/officeDocument/2006/relationships/image" Target="../media/image3.jp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jpg"/><Relationship Id="rId3" Type="http://schemas.openxmlformats.org/officeDocument/2006/relationships/image" Target="../media/image2.jpg"/><Relationship Id="rId7" Type="http://schemas.microsoft.com/office/2007/relationships/hdphoto" Target="../media/hdphoto1.wdp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hyperlink" Target="tel:08234-28841-419" TargetMode="External"/><Relationship Id="rId4" Type="http://schemas.openxmlformats.org/officeDocument/2006/relationships/image" Target="../media/image3.jp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jpg"/><Relationship Id="rId3" Type="http://schemas.openxmlformats.org/officeDocument/2006/relationships/image" Target="../media/image2.jpg"/><Relationship Id="rId7" Type="http://schemas.microsoft.com/office/2007/relationships/hdphoto" Target="../media/hdphoto1.wdp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hyperlink" Target="tel:08234-28841-419" TargetMode="External"/><Relationship Id="rId4" Type="http://schemas.openxmlformats.org/officeDocument/2006/relationships/image" Target="../media/image3.jp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jpg"/><Relationship Id="rId3" Type="http://schemas.openxmlformats.org/officeDocument/2006/relationships/image" Target="../media/image2.jpg"/><Relationship Id="rId7" Type="http://schemas.microsoft.com/office/2007/relationships/hdphoto" Target="../media/hdphoto1.wdp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hyperlink" Target="tel:08234-28841-419" TargetMode="External"/><Relationship Id="rId4" Type="http://schemas.openxmlformats.org/officeDocument/2006/relationships/image" Target="../media/image3.jp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7" Type="http://schemas.openxmlformats.org/officeDocument/2006/relationships/image" Target="../media/image5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6" Type="http://schemas.microsoft.com/office/2007/relationships/hdphoto" Target="../media/hdphoto1.wdp"/><Relationship Id="rId5" Type="http://schemas.openxmlformats.org/officeDocument/2006/relationships/image" Target="../media/image4.png"/><Relationship Id="rId4" Type="http://schemas.openxmlformats.org/officeDocument/2006/relationships/hyperlink" Target="tel:08234-28841-419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B4480BD-8F37-EB82-75D8-59412488DA05}"/>
              </a:ext>
            </a:extLst>
          </p:cNvPr>
          <p:cNvSpPr txBox="1"/>
          <p:nvPr/>
        </p:nvSpPr>
        <p:spPr>
          <a:xfrm>
            <a:off x="2167719" y="233238"/>
            <a:ext cx="7928781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200" b="1" dirty="0">
                <a:solidFill>
                  <a:srgbClr val="FF9900"/>
                </a:solidFill>
                <a:latin typeface="Bookman Old Style" panose="02050604050505020204" pitchFamily="18" charset="0"/>
              </a:rPr>
              <a:t>|| Jai Sri  Gurudev||</a:t>
            </a:r>
          </a:p>
          <a:p>
            <a:pPr algn="ctr"/>
            <a:r>
              <a:rPr lang="en-IN" b="1" dirty="0">
                <a:latin typeface="Bookman Old Style" panose="02050604050505020204" pitchFamily="18" charset="0"/>
              </a:rPr>
              <a:t> </a:t>
            </a:r>
            <a:r>
              <a:rPr lang="en-IN" sz="2800" b="1" dirty="0">
                <a:latin typeface="Bookman Old Style" panose="02050604050505020204" pitchFamily="18" charset="0"/>
              </a:rPr>
              <a:t>ADICHUNCHANAGIRI UNIVERSITY</a:t>
            </a:r>
          </a:p>
          <a:p>
            <a:pPr algn="ctr"/>
            <a:r>
              <a:rPr lang="en-IN" b="1" dirty="0">
                <a:latin typeface="Bookman Old Style" panose="02050604050505020204" pitchFamily="18" charset="0"/>
              </a:rPr>
              <a:t> </a:t>
            </a:r>
            <a:r>
              <a:rPr lang="en-IN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Bookman Old Style" panose="02050604050505020204" pitchFamily="18" charset="0"/>
              </a:rPr>
              <a:t>FACULTY OF ENGINEERING AND TECHNOLOGY</a:t>
            </a:r>
          </a:p>
          <a:p>
            <a:pPr algn="ctr"/>
            <a:r>
              <a:rPr lang="en-IN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Bookman Old Style" panose="02050604050505020204" pitchFamily="18" charset="0"/>
              </a:rPr>
              <a:t>(BGS INSTITUTE OF TECHNOLOGY)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096DFE0-7D31-5343-7B1E-E97CF4AFC9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938" y="196331"/>
            <a:ext cx="800731" cy="923330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5D4BD03-7FF7-294D-3E5C-4C9BB4EAB8E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29843" y="233238"/>
            <a:ext cx="800219" cy="923330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0DF490C-AB89-7084-323A-C6B1840C3B2C}"/>
              </a:ext>
            </a:extLst>
          </p:cNvPr>
          <p:cNvSpPr txBox="1"/>
          <p:nvPr/>
        </p:nvSpPr>
        <p:spPr>
          <a:xfrm>
            <a:off x="2647950" y="1419225"/>
            <a:ext cx="74485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BG Nagara, Nagamangala Taluk, Mandya District, Karnataka, India-571448</a:t>
            </a:r>
          </a:p>
          <a:p>
            <a:pPr algn="ctr"/>
            <a:r>
              <a:rPr lang="en-IN" sz="16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Dubai" panose="020B0503030403030204" pitchFamily="34" charset="-78"/>
                <a:cs typeface="Dubai" panose="020B0503030403030204" pitchFamily="34" charset="-78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Tel: 08234-28841-419</a:t>
            </a:r>
            <a:r>
              <a:rPr lang="en-IN" sz="16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, Web: www.bgsit.ac.in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CBD8D62-9189-38E1-1336-FD6824FE326D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AE4EB"/>
              </a:clrFrom>
              <a:clrTo>
                <a:srgbClr val="FAE4EB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5412" y="864180"/>
            <a:ext cx="891882" cy="83107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06B300A-A6CE-B596-D92C-81057FEA641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0815" y="793089"/>
            <a:ext cx="800464" cy="789838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ED5DE3BB-0D23-B5CD-07CB-7FCA6F737912}"/>
              </a:ext>
            </a:extLst>
          </p:cNvPr>
          <p:cNvSpPr/>
          <p:nvPr/>
        </p:nvSpPr>
        <p:spPr>
          <a:xfrm>
            <a:off x="0" y="2028941"/>
            <a:ext cx="12192000" cy="739974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 b="1" dirty="0">
              <a:solidFill>
                <a:srgbClr val="0070C0"/>
              </a:solidFill>
              <a:latin typeface="Dubai" panose="020B0503030403030204" pitchFamily="34" charset="-78"/>
              <a:cs typeface="Dubai" panose="020B0503030403030204" pitchFamily="34" charset="-78"/>
            </a:endParaRPr>
          </a:p>
          <a:p>
            <a:pPr algn="ctr"/>
            <a:r>
              <a:rPr lang="en-IN" sz="4000">
                <a:solidFill>
                  <a:srgbClr val="0070C0"/>
                </a:solidFill>
                <a:latin typeface="Dubai Medium" panose="020B0603030403030204" pitchFamily="34" charset="-78"/>
                <a:cs typeface="Dubai Medium" panose="020B0603030403030204" pitchFamily="34" charset="-78"/>
              </a:rPr>
              <a:t>Project Phase-2 </a:t>
            </a:r>
            <a:r>
              <a:rPr lang="en-IN" sz="4000" dirty="0">
                <a:solidFill>
                  <a:srgbClr val="0070C0"/>
                </a:solidFill>
                <a:latin typeface="Dubai Medium" panose="020B0603030403030204" pitchFamily="34" charset="-78"/>
                <a:cs typeface="Dubai Medium" panose="020B0603030403030204" pitchFamily="34" charset="-78"/>
              </a:rPr>
              <a:t>Presentation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C65D6D0-713B-99C0-61E8-84AFC14DAB59}"/>
              </a:ext>
            </a:extLst>
          </p:cNvPr>
          <p:cNvSpPr txBox="1"/>
          <p:nvPr/>
        </p:nvSpPr>
        <p:spPr>
          <a:xfrm>
            <a:off x="2783758" y="6500542"/>
            <a:ext cx="61817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800" b="1" dirty="0">
                <a:solidFill>
                  <a:schemeClr val="accent1"/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03 June 2026</a:t>
            </a:r>
          </a:p>
        </p:txBody>
      </p:sp>
      <p:sp>
        <p:nvSpPr>
          <p:cNvPr id="27" name="Rectangle 3">
            <a:extLst>
              <a:ext uri="{FF2B5EF4-FFF2-40B4-BE49-F238E27FC236}">
                <a16:creationId xmlns:a16="http://schemas.microsoft.com/office/drawing/2014/main" id="{5EB88A09-6D68-CF57-C7CB-CF39BE9B1F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702981"/>
            <a:ext cx="12191999" cy="2585323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ko-KR" sz="1600" dirty="0">
                <a:ln w="22225">
                  <a:solidFill>
                    <a:srgbClr val="002060"/>
                  </a:solidFill>
                  <a:prstDash val="solid"/>
                </a:ln>
                <a:solidFill>
                  <a:srgbClr val="00206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kumimoji="0" lang="en-US" altLang="ko-KR" sz="1600" b="0" i="0" u="none" strike="noStrike" cap="none" normalizeH="0" baseline="0" dirty="0">
                <a:ln w="22225">
                  <a:solidFill>
                    <a:srgbClr val="002060"/>
                  </a:solidFill>
                  <a:prstDash val="solid"/>
                </a:ln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Batang" panose="02030600000101010101" pitchFamily="18" charset="-127"/>
                <a:cs typeface="Times New Roman" panose="02020603050405020304" pitchFamily="18" charset="0"/>
              </a:rPr>
              <a:t>n</a:t>
            </a:r>
            <a:endParaRPr kumimoji="0" lang="en-US" altLang="ko-KR" sz="1600" b="0" i="0" u="none" strike="noStrike" cap="none" normalizeH="0" baseline="0" dirty="0">
              <a:ln w="22225">
                <a:solidFill>
                  <a:srgbClr val="002060"/>
                </a:solidFill>
                <a:prstDash val="solid"/>
              </a:ln>
              <a:solidFill>
                <a:srgbClr val="00206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ko-KR" sz="2800" b="1" dirty="0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j-lt"/>
              </a:rPr>
              <a:t>“</a:t>
            </a:r>
            <a:r>
              <a:rPr lang="en-US" altLang="ko-KR" sz="2800" b="1" dirty="0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Sitka Text Semibold" pitchFamily="2" charset="0"/>
                <a:cs typeface="Times New Roman" panose="02020603050405020304" pitchFamily="18" charset="0"/>
              </a:rPr>
              <a:t>Remote Controlled Unmanned Ground and Aerial Vehicle (UGAV) for Waste </a:t>
            </a:r>
            <a:r>
              <a:rPr lang="en-US" altLang="ko-KR" sz="2800" b="1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Sitka Text Semibold" pitchFamily="2" charset="0"/>
                <a:cs typeface="Times New Roman" panose="02020603050405020304" pitchFamily="18" charset="0"/>
              </a:rPr>
              <a:t>Disposal</a:t>
            </a:r>
            <a:r>
              <a:rPr lang="en-US" altLang="ko-KR" sz="2800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”</a:t>
            </a:r>
            <a:endParaRPr kumimoji="0" lang="en-US" altLang="ko-KR" sz="2800" b="0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ko-KR" b="1" dirty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  <a:sym typeface="+mn-ea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ko-KR" b="1" dirty="0">
                <a:ln>
                  <a:noFill/>
                </a:ln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+mn-ea"/>
              </a:rPr>
              <a:t>BACHELOR OF ENGINEERING </a:t>
            </a:r>
            <a:endParaRPr kumimoji="0" lang="en-US" altLang="ko-KR" b="0" i="0" u="none" strike="noStrike" cap="none" normalizeH="0" baseline="0" dirty="0">
              <a:ln>
                <a:noFill/>
              </a:ln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ko-KR" b="1" dirty="0">
                <a:ln>
                  <a:noFill/>
                </a:ln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+mn-ea"/>
              </a:rPr>
              <a:t>IN</a:t>
            </a:r>
            <a:endParaRPr kumimoji="0" lang="en-US" altLang="ko-KR" b="1" i="0" u="none" strike="noStrike" cap="none" normalizeH="0" baseline="0" dirty="0">
              <a:ln>
                <a:noFill/>
              </a:ln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ko-KR" b="1" dirty="0">
                <a:ln>
                  <a:noFill/>
                </a:ln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+mn-ea"/>
              </a:rPr>
              <a:t>ELECTRONICS AND COMMUNICATION ENGINEERING</a:t>
            </a:r>
            <a:endParaRPr kumimoji="0" lang="en-US" altLang="ko-KR" b="1" i="0" u="none" strike="noStrike" cap="none" normalizeH="0" baseline="0" dirty="0">
              <a:ln>
                <a:noFill/>
              </a:ln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ko-KR" b="1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F36D758-E57E-D1BF-A66F-C89B82F8706C}"/>
              </a:ext>
            </a:extLst>
          </p:cNvPr>
          <p:cNvSpPr txBox="1"/>
          <p:nvPr/>
        </p:nvSpPr>
        <p:spPr>
          <a:xfrm>
            <a:off x="917714" y="5045793"/>
            <a:ext cx="3812906" cy="1692771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000" b="1" dirty="0">
                <a:ln>
                  <a:noFill/>
                </a:ln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000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Presented</a:t>
            </a:r>
            <a:r>
              <a:rPr lang="en-US" altLang="en-US" sz="2000" b="1" dirty="0">
                <a:ln>
                  <a:noFill/>
                </a:ln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by: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FFFF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FFFF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             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rgbClr val="FFFF00"/>
              </a:solidFill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Chandana R(22ECE019)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Nagashree M(22ECE094)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Nishanth S(22ECE099)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8F08AE6-88C9-7513-3708-6DD12635CED5}"/>
              </a:ext>
            </a:extLst>
          </p:cNvPr>
          <p:cNvSpPr txBox="1"/>
          <p:nvPr/>
        </p:nvSpPr>
        <p:spPr>
          <a:xfrm>
            <a:off x="6095999" y="5320937"/>
            <a:ext cx="6097554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45720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ko-KR" sz="2000" b="1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FFC000">
                      <a:alpha val="43000"/>
                    </a:srgbClr>
                  </a:outerShdw>
                </a:effectLst>
                <a:latin typeface="Times New Roman" panose="02020603050405020304" pitchFamily="18" charset="0"/>
                <a:ea typeface="Batang" panose="02030600000101010101" pitchFamily="18" charset="-127"/>
                <a:cs typeface="Times New Roman" panose="02020603050405020304" pitchFamily="18" charset="0"/>
                <a:sym typeface="+mn-ea"/>
              </a:rPr>
              <a:t>Under the guidance of:</a:t>
            </a:r>
          </a:p>
          <a:p>
            <a:pPr marL="0" marR="0" lvl="0" indent="45720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ko-KR" sz="2000" b="1" dirty="0">
                <a:effectLst>
                  <a:outerShdw blurRad="38100" dist="38100" dir="2700000" algn="tl">
                    <a:srgbClr val="FFC000">
                      <a:alpha val="43000"/>
                    </a:srgbClr>
                  </a:outerShdw>
                </a:effectLst>
                <a:latin typeface="Times New Roman" panose="02020603050405020304" pitchFamily="18" charset="0"/>
                <a:ea typeface="Batang" panose="02030600000101010101" pitchFamily="18" charset="-127"/>
                <a:cs typeface="Times New Roman" panose="02020603050405020304" pitchFamily="18" charset="0"/>
                <a:sym typeface="+mn-ea"/>
              </a:rPr>
              <a:t>Mrs. Ramya K</a:t>
            </a:r>
            <a:r>
              <a:rPr lang="en-US" altLang="ko-KR" sz="2000" b="1" dirty="0">
                <a:effectLst>
                  <a:outerShdw blurRad="38100" dist="38100" dir="2700000" algn="tl">
                    <a:schemeClr val="bg2">
                      <a:lumMod val="50000"/>
                      <a:alpha val="43000"/>
                    </a:schemeClr>
                  </a:outerShdw>
                </a:effectLst>
                <a:latin typeface="Times New Roman" panose="02020603050405020304" pitchFamily="18" charset="0"/>
                <a:ea typeface="Batang" panose="02030600000101010101" pitchFamily="18" charset="-127"/>
                <a:cs typeface="Times New Roman" panose="02020603050405020304" pitchFamily="18" charset="0"/>
                <a:sym typeface="+mn-ea"/>
              </a:rPr>
              <a:t>, </a:t>
            </a:r>
            <a:r>
              <a:rPr lang="en-US" altLang="ko-KR" sz="2000" b="1" baseline="-25000" dirty="0">
                <a:effectLst>
                  <a:outerShdw blurRad="38100" dist="38100" dir="2700000" algn="tl">
                    <a:schemeClr val="bg2">
                      <a:lumMod val="50000"/>
                      <a:alpha val="43000"/>
                    </a:schemeClr>
                  </a:outerShdw>
                </a:effectLst>
                <a:latin typeface="Times New Roman" panose="02020603050405020304" pitchFamily="18" charset="0"/>
                <a:ea typeface="Batang" panose="02030600000101010101" pitchFamily="18" charset="-127"/>
                <a:cs typeface="Times New Roman" panose="02020603050405020304" pitchFamily="18" charset="0"/>
                <a:sym typeface="+mn-ea"/>
              </a:rPr>
              <a:t>BE, MTech(</a:t>
            </a:r>
            <a:r>
              <a:rPr lang="en-US" altLang="ko-KR" sz="2000" b="1" baseline="-25000" dirty="0" err="1">
                <a:effectLst>
                  <a:outerShdw blurRad="38100" dist="38100" dir="2700000" algn="tl">
                    <a:schemeClr val="bg2">
                      <a:lumMod val="50000"/>
                      <a:alpha val="43000"/>
                    </a:schemeClr>
                  </a:outerShdw>
                </a:effectLst>
                <a:latin typeface="Times New Roman" panose="02020603050405020304" pitchFamily="18" charset="0"/>
                <a:ea typeface="Batang" panose="02030600000101010101" pitchFamily="18" charset="-127"/>
                <a:cs typeface="Times New Roman" panose="02020603050405020304" pitchFamily="18" charset="0"/>
                <a:sym typeface="+mn-ea"/>
              </a:rPr>
              <a:t>Ph.D</a:t>
            </a:r>
            <a:r>
              <a:rPr lang="en-US" altLang="ko-KR" sz="2000" b="1" baseline="-25000" dirty="0">
                <a:effectLst>
                  <a:outerShdw blurRad="38100" dist="38100" dir="2700000" algn="tl">
                    <a:schemeClr val="bg2">
                      <a:lumMod val="50000"/>
                      <a:alpha val="43000"/>
                    </a:schemeClr>
                  </a:outerShdw>
                </a:effectLst>
                <a:latin typeface="Times New Roman" panose="02020603050405020304" pitchFamily="18" charset="0"/>
                <a:ea typeface="Batang" panose="02030600000101010101" pitchFamily="18" charset="-127"/>
                <a:cs typeface="Times New Roman" panose="02020603050405020304" pitchFamily="18" charset="0"/>
                <a:sym typeface="+mn-ea"/>
              </a:rPr>
              <a:t>)</a:t>
            </a:r>
            <a:r>
              <a:rPr lang="en-US" altLang="ko-KR" sz="2000" baseline="-25000" dirty="0">
                <a:latin typeface="Times New Roman" panose="02020603050405020304" pitchFamily="18" charset="0"/>
                <a:ea typeface="Batang" panose="02030600000101010101" pitchFamily="18" charset="-127"/>
                <a:cs typeface="Times New Roman" panose="02020603050405020304" pitchFamily="18" charset="0"/>
                <a:sym typeface="+mn-ea"/>
              </a:rPr>
              <a:t>.</a:t>
            </a:r>
            <a:endParaRPr lang="en-US" altLang="ko-KR" sz="2000" baseline="-25000" dirty="0">
              <a:latin typeface="Times New Roman" panose="02020603050405020304" pitchFamily="18" charset="0"/>
              <a:ea typeface="Batang" panose="02030600000101010101" pitchFamily="18" charset="-127"/>
              <a:cs typeface="Times New Roman" panose="02020603050405020304" pitchFamily="18" charset="0"/>
            </a:endParaRPr>
          </a:p>
          <a:p>
            <a:pPr marL="0" marR="0" lvl="0" indent="45720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ko-KR" sz="2000" dirty="0">
                <a:effectLst>
                  <a:outerShdw blurRad="38100" dist="38100" dir="2700000" algn="tl">
                    <a:schemeClr val="accent1">
                      <a:lumMod val="75000"/>
                      <a:alpha val="43000"/>
                    </a:schemeClr>
                  </a:outerShdw>
                </a:effectLst>
                <a:latin typeface="Times New Roman" panose="02020603050405020304" pitchFamily="18" charset="0"/>
                <a:ea typeface="Batang" panose="02030600000101010101" pitchFamily="18" charset="-127"/>
                <a:cs typeface="Times New Roman" panose="02020603050405020304" pitchFamily="18" charset="0"/>
                <a:sym typeface="+mn-ea"/>
              </a:rPr>
              <a:t>Assistant Professor, Dept. of ECE,</a:t>
            </a:r>
            <a:endParaRPr lang="en-US" altLang="ko-KR" sz="2000" dirty="0">
              <a:effectLst>
                <a:outerShdw blurRad="38100" dist="38100" dir="2700000" algn="tl">
                  <a:schemeClr val="accent1">
                    <a:lumMod val="75000"/>
                    <a:alpha val="43000"/>
                  </a:schemeClr>
                </a:outerShdw>
              </a:effectLst>
              <a:latin typeface="Times New Roman" panose="02020603050405020304" pitchFamily="18" charset="0"/>
              <a:ea typeface="Batang" panose="02030600000101010101" pitchFamily="18" charset="-127"/>
              <a:cs typeface="Times New Roman" panose="02020603050405020304" pitchFamily="18" charset="0"/>
            </a:endParaRPr>
          </a:p>
          <a:p>
            <a:pPr marL="0" marR="0" lvl="0" indent="45720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ko-KR" sz="2000" dirty="0">
                <a:ln>
                  <a:noFill/>
                </a:ln>
                <a:effectLst>
                  <a:outerShdw blurRad="38100" dist="38100" dir="2700000" algn="tl">
                    <a:schemeClr val="accent1">
                      <a:lumMod val="75000"/>
                      <a:alpha val="43000"/>
                    </a:schemeClr>
                  </a:outerShdw>
                </a:effectLst>
                <a:latin typeface="Times New Roman" panose="02020603050405020304" pitchFamily="18" charset="0"/>
                <a:ea typeface="Batang" panose="02030600000101010101" pitchFamily="18" charset="-127"/>
                <a:cs typeface="Times New Roman" panose="02020603050405020304" pitchFamily="18" charset="0"/>
                <a:sym typeface="+mn-ea"/>
              </a:rPr>
              <a:t>BGSIT, BG Nagara, Mand</a:t>
            </a:r>
            <a:r>
              <a:rPr lang="en-US" altLang="ko-KR" sz="2000" dirty="0">
                <a:effectLst>
                  <a:outerShdw blurRad="38100" dist="38100" dir="2700000" algn="tl">
                    <a:schemeClr val="accent1">
                      <a:lumMod val="75000"/>
                      <a:alpha val="43000"/>
                    </a:schemeClr>
                  </a:outerShdw>
                </a:effectLst>
                <a:latin typeface="Times New Roman" panose="02020603050405020304" pitchFamily="18" charset="0"/>
                <a:ea typeface="Batang" panose="02030600000101010101" pitchFamily="18" charset="-127"/>
                <a:cs typeface="Times New Roman" panose="02020603050405020304" pitchFamily="18" charset="0"/>
                <a:sym typeface="+mn-ea"/>
              </a:rPr>
              <a:t>ya</a:t>
            </a: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5611240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" name="Group 52">
            <a:extLst>
              <a:ext uri="{FF2B5EF4-FFF2-40B4-BE49-F238E27FC236}">
                <a16:creationId xmlns:a16="http://schemas.microsoft.com/office/drawing/2014/main" id="{7954B897-D02E-D6DE-C99E-0AF73A4AA7E2}"/>
              </a:ext>
            </a:extLst>
          </p:cNvPr>
          <p:cNvGrpSpPr/>
          <p:nvPr/>
        </p:nvGrpSpPr>
        <p:grpSpPr>
          <a:xfrm>
            <a:off x="0" y="17944"/>
            <a:ext cx="12192000" cy="6824816"/>
            <a:chOff x="0" y="33184"/>
            <a:chExt cx="12192000" cy="5924190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5ECD3DD6-835A-6430-E8BC-6736D7DB044E}"/>
                </a:ext>
              </a:extLst>
            </p:cNvPr>
            <p:cNvSpPr txBox="1"/>
            <p:nvPr/>
          </p:nvSpPr>
          <p:spPr>
            <a:xfrm>
              <a:off x="2167719" y="33184"/>
              <a:ext cx="7818825" cy="97513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1100" b="1" dirty="0">
                  <a:solidFill>
                    <a:srgbClr val="FF9900"/>
                  </a:solidFill>
                  <a:latin typeface="Bookman Old Style" panose="02050604050505020204" pitchFamily="18" charset="0"/>
                </a:rPr>
                <a:t>|| Jai Sri  Gurudev||</a:t>
              </a:r>
            </a:p>
            <a:p>
              <a:pPr algn="ctr"/>
              <a:r>
                <a:rPr lang="en-IN" b="1" dirty="0">
                  <a:latin typeface="Bookman Old Style" panose="02050604050505020204" pitchFamily="18" charset="0"/>
                </a:rPr>
                <a:t> </a:t>
              </a:r>
              <a:r>
                <a:rPr lang="en-IN" sz="2000" b="1" dirty="0">
                  <a:latin typeface="Bookman Old Style" panose="02050604050505020204" pitchFamily="18" charset="0"/>
                </a:rPr>
                <a:t>ADICHUNCHANAGIRI UNIVERSITY</a:t>
              </a:r>
            </a:p>
            <a:p>
              <a:pPr algn="ctr"/>
              <a:r>
                <a:rPr lang="en-IN" b="1" dirty="0">
                  <a:latin typeface="Bookman Old Style" panose="02050604050505020204" pitchFamily="18" charset="0"/>
                </a:rPr>
                <a:t> </a:t>
              </a:r>
              <a:r>
                <a:rPr lang="en-IN" b="1" dirty="0">
                  <a:solidFill>
                    <a:schemeClr val="accent1">
                      <a:lumMod val="20000"/>
                      <a:lumOff val="80000"/>
                    </a:schemeClr>
                  </a:solidFill>
                  <a:latin typeface="Bookman Old Style" panose="02050604050505020204" pitchFamily="18" charset="0"/>
                </a:rPr>
                <a:t>FACULTY OF ENGINEERING AND TECHNOLOGY</a:t>
              </a:r>
            </a:p>
            <a:p>
              <a:pPr algn="ctr"/>
              <a:r>
                <a:rPr lang="en-IN" b="1" dirty="0">
                  <a:solidFill>
                    <a:schemeClr val="accent1">
                      <a:lumMod val="20000"/>
                      <a:lumOff val="80000"/>
                    </a:schemeClr>
                  </a:solidFill>
                  <a:latin typeface="Bookman Old Style" panose="02050604050505020204" pitchFamily="18" charset="0"/>
                </a:rPr>
                <a:t>(BGS INSTITUTE OF TECHNOLOGY)</a:t>
              </a:r>
            </a:p>
          </p:txBody>
        </p: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D0C56B1A-2DCC-0DC2-2C66-890C5087851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7926" y="166850"/>
              <a:ext cx="800731" cy="923330"/>
            </a:xfrm>
            <a:prstGeom prst="ellipse">
              <a:avLst/>
            </a:prstGeom>
            <a:ln w="63500" cap="rnd">
              <a:solidFill>
                <a:srgbClr val="333333"/>
              </a:solidFill>
            </a:ln>
            <a:effectLst>
              <a:outerShdw blurRad="381000" dist="292100" dir="5400000" sx="-80000" sy="-18000" rotWithShape="0">
                <a:srgbClr val="000000">
                  <a:alpha val="22000"/>
                </a:srgbClr>
              </a:outerShdw>
            </a:effectLst>
            <a:scene3d>
              <a:camera prst="orthographicFront"/>
              <a:lightRig rig="contrasting" dir="t">
                <a:rot lat="0" lon="0" rev="3000000"/>
              </a:lightRig>
            </a:scene3d>
            <a:sp3d contourW="7620">
              <a:bevelT w="95250" h="31750"/>
              <a:contourClr>
                <a:srgbClr val="333333"/>
              </a:contourClr>
            </a:sp3d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2CC21EDA-9332-E853-7035-C727ED94E6E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915591" y="166850"/>
              <a:ext cx="800219" cy="923330"/>
            </a:xfrm>
            <a:prstGeom prst="ellipse">
              <a:avLst/>
            </a:prstGeom>
            <a:ln w="63500" cap="rnd">
              <a:solidFill>
                <a:srgbClr val="333333"/>
              </a:solidFill>
            </a:ln>
            <a:effectLst>
              <a:outerShdw blurRad="381000" dist="292100" dir="5400000" sx="-80000" sy="-18000" rotWithShape="0">
                <a:srgbClr val="000000">
                  <a:alpha val="22000"/>
                </a:srgbClr>
              </a:outerShdw>
            </a:effectLst>
            <a:scene3d>
              <a:camera prst="orthographicFront"/>
              <a:lightRig rig="contrasting" dir="t">
                <a:rot lat="0" lon="0" rev="3000000"/>
              </a:lightRig>
            </a:scene3d>
            <a:sp3d contourW="7620">
              <a:bevelT w="95250" h="31750"/>
              <a:contourClr>
                <a:srgbClr val="333333"/>
              </a:contourClr>
            </a:sp3d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5CF2F78D-CD60-E25B-1EA3-5F30E832DC29}"/>
                </a:ext>
              </a:extLst>
            </p:cNvPr>
            <p:cNvSpPr txBox="1"/>
            <p:nvPr/>
          </p:nvSpPr>
          <p:spPr>
            <a:xfrm>
              <a:off x="2537994" y="970756"/>
              <a:ext cx="744855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1400" b="1" dirty="0">
                  <a:solidFill>
                    <a:schemeClr val="accent1">
                      <a:lumMod val="60000"/>
                      <a:lumOff val="40000"/>
                    </a:schemeClr>
                  </a:solidFill>
                  <a:latin typeface="Dubai" panose="020B0503030403030204" pitchFamily="34" charset="-78"/>
                  <a:cs typeface="Dubai" panose="020B0503030403030204" pitchFamily="34" charset="-78"/>
                </a:rPr>
                <a:t>BG Nagara, Nagamangala Taluk, Mandya District, Karnataka, India-571448</a:t>
              </a:r>
            </a:p>
            <a:p>
              <a:pPr algn="ctr"/>
              <a:r>
                <a:rPr lang="en-IN" sz="1400" b="1" dirty="0">
                  <a:solidFill>
                    <a:schemeClr val="accent1">
                      <a:lumMod val="60000"/>
                      <a:lumOff val="40000"/>
                    </a:schemeClr>
                  </a:solidFill>
                  <a:latin typeface="Dubai" panose="020B0503030403030204" pitchFamily="34" charset="-78"/>
                  <a:cs typeface="Dubai" panose="020B0503030403030204" pitchFamily="34" charset="-78"/>
                  <a:hlinkClick r:id="rId4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Tel: 08234-28841-419</a:t>
              </a:r>
              <a:r>
                <a:rPr lang="en-IN" sz="1400" b="1" dirty="0">
                  <a:solidFill>
                    <a:schemeClr val="accent1">
                      <a:lumMod val="60000"/>
                      <a:lumOff val="40000"/>
                    </a:schemeClr>
                  </a:solidFill>
                  <a:latin typeface="Dubai" panose="020B0503030403030204" pitchFamily="34" charset="-78"/>
                  <a:cs typeface="Dubai" panose="020B0503030403030204" pitchFamily="34" charset="-78"/>
                </a:rPr>
                <a:t>, Web: www.bgsit.ac.in</a:t>
              </a:r>
            </a:p>
          </p:txBody>
        </p:sp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88B5488F-859F-E9AB-4359-9E050EDA24F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clrChange>
                <a:clrFrom>
                  <a:srgbClr val="FAE4EB"/>
                </a:clrFrom>
                <a:clrTo>
                  <a:srgbClr val="FAE4EB">
                    <a:alpha val="0"/>
                  </a:srgbClr>
                </a:clrTo>
              </a:clrChange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saturation sat="4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978421" y="842113"/>
              <a:ext cx="712029" cy="663482"/>
            </a:xfrm>
            <a:prstGeom prst="rect">
              <a:avLst/>
            </a:prstGeom>
          </p:spPr>
        </p:pic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A77DE224-DDA3-ADB5-AAA6-3F868B2E46D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34088" y="842113"/>
              <a:ext cx="615216" cy="607049"/>
            </a:xfrm>
            <a:prstGeom prst="rect">
              <a:avLst/>
            </a:prstGeom>
          </p:spPr>
        </p:pic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8373053A-82D3-A312-60C4-0EDFC2659D9E}"/>
                </a:ext>
              </a:extLst>
            </p:cNvPr>
            <p:cNvSpPr/>
            <p:nvPr/>
          </p:nvSpPr>
          <p:spPr>
            <a:xfrm>
              <a:off x="0" y="1564108"/>
              <a:ext cx="12192000" cy="4393266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solidFill>
                  <a:schemeClr val="bg1"/>
                </a:solidFill>
              </a:endParaRPr>
            </a:p>
          </p:txBody>
        </p:sp>
      </p:grpSp>
      <p:sp>
        <p:nvSpPr>
          <p:cNvPr id="54" name="Google Shape;76;p15">
            <a:extLst>
              <a:ext uri="{FF2B5EF4-FFF2-40B4-BE49-F238E27FC236}">
                <a16:creationId xmlns:a16="http://schemas.microsoft.com/office/drawing/2014/main" id="{C0023781-220E-F3A7-0C38-115B0AE53F86}"/>
              </a:ext>
            </a:extLst>
          </p:cNvPr>
          <p:cNvSpPr txBox="1"/>
          <p:nvPr/>
        </p:nvSpPr>
        <p:spPr>
          <a:xfrm>
            <a:off x="168280" y="1710431"/>
            <a:ext cx="8539779" cy="50475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b="1" dirty="0">
                <a:solidFill>
                  <a:srgbClr val="002060"/>
                </a:solidFill>
                <a:latin typeface="Bookman Old Style" panose="02050604050505020204" pitchFamily="18" charset="0"/>
                <a:ea typeface="Georgia"/>
                <a:cs typeface="Dubai" panose="020B0503030403030204" pitchFamily="34" charset="-78"/>
                <a:sym typeface="Georgia"/>
              </a:rPr>
              <a:t>Contents:</a:t>
            </a: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 dirty="0">
                <a:solidFill>
                  <a:srgbClr val="002060"/>
                </a:solidFill>
                <a:latin typeface="+mj-lt"/>
                <a:ea typeface="Georgia"/>
                <a:cs typeface="Dubai" panose="020B0503030403030204" pitchFamily="34" charset="-78"/>
                <a:sym typeface="Georgia"/>
              </a:rPr>
              <a:t>  </a:t>
            </a:r>
            <a:r>
              <a:rPr lang="en" sz="2400" dirty="0">
                <a:solidFill>
                  <a:schemeClr val="bg1"/>
                </a:solidFill>
                <a:latin typeface="+mj-lt"/>
                <a:ea typeface="Georgia"/>
                <a:cs typeface="Dubai" panose="020B0503030403030204" pitchFamily="34" charset="-78"/>
                <a:sym typeface="Georgia"/>
              </a:rPr>
              <a:t>1.Abstract.</a:t>
            </a: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solidFill>
                  <a:schemeClr val="bg1"/>
                </a:solidFill>
                <a:latin typeface="+mj-lt"/>
                <a:ea typeface="Georgia"/>
                <a:cs typeface="Dubai" panose="020B0503030403030204" pitchFamily="34" charset="-78"/>
                <a:sym typeface="Georgia"/>
              </a:rPr>
              <a:t>  2.Introduction.</a:t>
            </a: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solidFill>
                  <a:schemeClr val="bg1"/>
                </a:solidFill>
                <a:latin typeface="+mj-lt"/>
                <a:ea typeface="Georgia"/>
                <a:cs typeface="Dubai" panose="020B0503030403030204" pitchFamily="34" charset="-78"/>
                <a:sym typeface="Georgia"/>
              </a:rPr>
              <a:t>  3.Problem Definition.</a:t>
            </a: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solidFill>
                  <a:schemeClr val="bg1"/>
                </a:solidFill>
                <a:latin typeface="+mj-lt"/>
                <a:ea typeface="Georgia"/>
                <a:cs typeface="Dubai" panose="020B0503030403030204" pitchFamily="34" charset="-78"/>
                <a:sym typeface="Georgia"/>
              </a:rPr>
              <a:t>  4.Literature survey.</a:t>
            </a: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solidFill>
                  <a:schemeClr val="bg1"/>
                </a:solidFill>
                <a:latin typeface="+mj-lt"/>
                <a:ea typeface="Georgia"/>
                <a:cs typeface="Dubai" panose="020B0503030403030204" pitchFamily="34" charset="-78"/>
                <a:sym typeface="Georgia"/>
              </a:rPr>
              <a:t>  5.Objectives.</a:t>
            </a: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solidFill>
                  <a:schemeClr val="bg1"/>
                </a:solidFill>
                <a:latin typeface="+mj-lt"/>
                <a:ea typeface="Georgia"/>
                <a:cs typeface="Dubai" panose="020B0503030403030204" pitchFamily="34" charset="-78"/>
                <a:sym typeface="Georgia"/>
              </a:rPr>
              <a:t>  6.Hardware/Software Requirments.</a:t>
            </a: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solidFill>
                  <a:schemeClr val="bg1"/>
                </a:solidFill>
                <a:latin typeface="+mj-lt"/>
                <a:ea typeface="Georgia"/>
                <a:cs typeface="Dubai" panose="020B0503030403030204" pitchFamily="34" charset="-78"/>
                <a:sym typeface="Georgia"/>
              </a:rPr>
              <a:t>  7.Block Diagram.</a:t>
            </a: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solidFill>
                  <a:schemeClr val="bg1"/>
                </a:solidFill>
                <a:latin typeface="+mj-lt"/>
                <a:ea typeface="Georgia"/>
                <a:cs typeface="Dubai" panose="020B0503030403030204" pitchFamily="34" charset="-78"/>
                <a:sym typeface="Georgia"/>
              </a:rPr>
              <a:t>  8.Methodology.</a:t>
            </a: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solidFill>
                  <a:schemeClr val="bg1"/>
                </a:solidFill>
                <a:latin typeface="+mj-lt"/>
                <a:ea typeface="Georgia"/>
                <a:cs typeface="Dubai" panose="020B0503030403030204" pitchFamily="34" charset="-78"/>
                <a:sym typeface="Georgia"/>
              </a:rPr>
              <a:t>  9.Flow chart</a:t>
            </a: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solidFill>
                  <a:schemeClr val="bg1"/>
                </a:solidFill>
                <a:latin typeface="+mj-lt"/>
                <a:ea typeface="Georgia"/>
                <a:cs typeface="Dubai" panose="020B0503030403030204" pitchFamily="34" charset="-78"/>
                <a:sym typeface="Georgia"/>
              </a:rPr>
              <a:t>  10.Results</a:t>
            </a: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solidFill>
                  <a:schemeClr val="bg1"/>
                </a:solidFill>
                <a:latin typeface="+mj-lt"/>
                <a:ea typeface="Georgia"/>
                <a:cs typeface="Dubai" panose="020B0503030403030204" pitchFamily="34" charset="-78"/>
                <a:sym typeface="Georgia"/>
              </a:rPr>
              <a:t>  11.conclusions</a:t>
            </a: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solidFill>
                  <a:schemeClr val="bg1"/>
                </a:solidFill>
                <a:latin typeface="+mj-lt"/>
                <a:ea typeface="Georgia"/>
                <a:cs typeface="Dubai" panose="020B0503030403030204" pitchFamily="34" charset="-78"/>
                <a:sym typeface="Georgia"/>
              </a:rPr>
              <a:t>  12.References.</a:t>
            </a:r>
            <a:endParaRPr sz="2400" dirty="0">
              <a:solidFill>
                <a:schemeClr val="bg1"/>
              </a:solidFill>
              <a:latin typeface="+mj-lt"/>
              <a:ea typeface="Georgia"/>
              <a:cs typeface="Dubai" panose="020B0503030403030204" pitchFamily="34" charset="-78"/>
              <a:sym typeface="Georgia"/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C6CF9BD9-50EA-C3B7-D13E-A1F433037E8D}"/>
              </a:ext>
            </a:extLst>
          </p:cNvPr>
          <p:cNvSpPr/>
          <p:nvPr/>
        </p:nvSpPr>
        <p:spPr>
          <a:xfrm>
            <a:off x="11407899" y="6176865"/>
            <a:ext cx="615821" cy="577939"/>
          </a:xfrm>
          <a:prstGeom prst="ellipse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0904704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F8902231-9225-9AE7-1E2F-542C3450A407}"/>
              </a:ext>
            </a:extLst>
          </p:cNvPr>
          <p:cNvGrpSpPr/>
          <p:nvPr/>
        </p:nvGrpSpPr>
        <p:grpSpPr>
          <a:xfrm>
            <a:off x="0" y="33184"/>
            <a:ext cx="12192000" cy="6824816"/>
            <a:chOff x="0" y="33184"/>
            <a:chExt cx="12192000" cy="5924190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755B1E7F-95C8-1EA1-EB0A-FEBF60585431}"/>
                </a:ext>
              </a:extLst>
            </p:cNvPr>
            <p:cNvSpPr txBox="1"/>
            <p:nvPr/>
          </p:nvSpPr>
          <p:spPr>
            <a:xfrm>
              <a:off x="2167719" y="33184"/>
              <a:ext cx="7818825" cy="97513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1100" b="1" dirty="0">
                  <a:solidFill>
                    <a:srgbClr val="FF9900"/>
                  </a:solidFill>
                  <a:latin typeface="Bookman Old Style" panose="02050604050505020204" pitchFamily="18" charset="0"/>
                </a:rPr>
                <a:t>|| Jai Sri  Gurudev||</a:t>
              </a:r>
            </a:p>
            <a:p>
              <a:pPr algn="ctr"/>
              <a:r>
                <a:rPr lang="en-IN" b="1" dirty="0">
                  <a:latin typeface="Bookman Old Style" panose="02050604050505020204" pitchFamily="18" charset="0"/>
                </a:rPr>
                <a:t> </a:t>
              </a:r>
              <a:r>
                <a:rPr lang="en-IN" sz="2000" b="1" dirty="0">
                  <a:latin typeface="Bookman Old Style" panose="02050604050505020204" pitchFamily="18" charset="0"/>
                </a:rPr>
                <a:t>ADICHUNCHANAGIRI UNIVERSITY</a:t>
              </a:r>
            </a:p>
            <a:p>
              <a:pPr algn="ctr"/>
              <a:r>
                <a:rPr lang="en-IN" b="1" dirty="0">
                  <a:latin typeface="Bookman Old Style" panose="02050604050505020204" pitchFamily="18" charset="0"/>
                </a:rPr>
                <a:t> </a:t>
              </a:r>
              <a:r>
                <a:rPr lang="en-IN" b="1" dirty="0">
                  <a:solidFill>
                    <a:schemeClr val="accent1">
                      <a:lumMod val="20000"/>
                      <a:lumOff val="80000"/>
                    </a:schemeClr>
                  </a:solidFill>
                  <a:latin typeface="Bookman Old Style" panose="02050604050505020204" pitchFamily="18" charset="0"/>
                </a:rPr>
                <a:t>FACULTY OF ENGINEERING AND TECHNOLOGY</a:t>
              </a:r>
            </a:p>
            <a:p>
              <a:pPr algn="ctr"/>
              <a:r>
                <a:rPr lang="en-IN" b="1" dirty="0">
                  <a:solidFill>
                    <a:schemeClr val="accent1">
                      <a:lumMod val="20000"/>
                      <a:lumOff val="80000"/>
                    </a:schemeClr>
                  </a:solidFill>
                  <a:latin typeface="Bookman Old Style" panose="02050604050505020204" pitchFamily="18" charset="0"/>
                </a:rPr>
                <a:t>(BGS INSTITUTE OF TECHNOLOGY)</a:t>
              </a:r>
            </a:p>
          </p:txBody>
        </p: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DBB4240A-32A1-CFF1-7087-07A872AC130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7926" y="166850"/>
              <a:ext cx="800731" cy="923330"/>
            </a:xfrm>
            <a:prstGeom prst="ellipse">
              <a:avLst/>
            </a:prstGeom>
            <a:ln w="63500" cap="rnd">
              <a:solidFill>
                <a:srgbClr val="333333"/>
              </a:solidFill>
            </a:ln>
            <a:effectLst>
              <a:outerShdw blurRad="381000" dist="292100" dir="5400000" sx="-80000" sy="-18000" rotWithShape="0">
                <a:srgbClr val="000000">
                  <a:alpha val="22000"/>
                </a:srgbClr>
              </a:outerShdw>
            </a:effectLst>
            <a:scene3d>
              <a:camera prst="orthographicFront"/>
              <a:lightRig rig="contrasting" dir="t">
                <a:rot lat="0" lon="0" rev="3000000"/>
              </a:lightRig>
            </a:scene3d>
            <a:sp3d contourW="7620">
              <a:bevelT w="95250" h="31750"/>
              <a:contourClr>
                <a:srgbClr val="333333"/>
              </a:contourClr>
            </a:sp3d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3DFBDA8A-01F2-F9A7-A6C8-75485753596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915591" y="166850"/>
              <a:ext cx="800219" cy="923330"/>
            </a:xfrm>
            <a:prstGeom prst="ellipse">
              <a:avLst/>
            </a:prstGeom>
            <a:ln w="63500" cap="rnd">
              <a:solidFill>
                <a:srgbClr val="333333"/>
              </a:solidFill>
            </a:ln>
            <a:effectLst>
              <a:outerShdw blurRad="381000" dist="292100" dir="5400000" sx="-80000" sy="-18000" rotWithShape="0">
                <a:srgbClr val="000000">
                  <a:alpha val="22000"/>
                </a:srgbClr>
              </a:outerShdw>
            </a:effectLst>
            <a:scene3d>
              <a:camera prst="orthographicFront"/>
              <a:lightRig rig="contrasting" dir="t">
                <a:rot lat="0" lon="0" rev="3000000"/>
              </a:lightRig>
            </a:scene3d>
            <a:sp3d contourW="7620">
              <a:bevelT w="95250" h="31750"/>
              <a:contourClr>
                <a:srgbClr val="333333"/>
              </a:contourClr>
            </a:sp3d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A03BB597-16C3-CE43-AB32-D16ACEA77152}"/>
                </a:ext>
              </a:extLst>
            </p:cNvPr>
            <p:cNvSpPr txBox="1"/>
            <p:nvPr/>
          </p:nvSpPr>
          <p:spPr>
            <a:xfrm>
              <a:off x="2549110" y="966669"/>
              <a:ext cx="744855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1400" b="1" dirty="0">
                  <a:solidFill>
                    <a:schemeClr val="accent1">
                      <a:lumMod val="60000"/>
                      <a:lumOff val="40000"/>
                    </a:schemeClr>
                  </a:solidFill>
                  <a:latin typeface="Dubai" panose="020B0503030403030204" pitchFamily="34" charset="-78"/>
                  <a:cs typeface="Dubai" panose="020B0503030403030204" pitchFamily="34" charset="-78"/>
                </a:rPr>
                <a:t>BG Nagara, Nagamangala Taluk, Mandya District, Karnataka, India-571448</a:t>
              </a:r>
            </a:p>
            <a:p>
              <a:pPr algn="ctr"/>
              <a:r>
                <a:rPr lang="en-IN" sz="1400" b="1" dirty="0">
                  <a:solidFill>
                    <a:schemeClr val="accent1">
                      <a:lumMod val="60000"/>
                      <a:lumOff val="40000"/>
                    </a:schemeClr>
                  </a:solidFill>
                  <a:latin typeface="Dubai" panose="020B0503030403030204" pitchFamily="34" charset="-78"/>
                  <a:cs typeface="Dubai" panose="020B0503030403030204" pitchFamily="34" charset="-78"/>
                  <a:hlinkClick r:id="rId4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Tel: 08234-28841-419</a:t>
              </a:r>
              <a:r>
                <a:rPr lang="en-IN" sz="1400" b="1" dirty="0">
                  <a:solidFill>
                    <a:schemeClr val="accent1">
                      <a:lumMod val="60000"/>
                      <a:lumOff val="40000"/>
                    </a:schemeClr>
                  </a:solidFill>
                  <a:latin typeface="Dubai" panose="020B0503030403030204" pitchFamily="34" charset="-78"/>
                  <a:cs typeface="Dubai" panose="020B0503030403030204" pitchFamily="34" charset="-78"/>
                </a:rPr>
                <a:t>, Web: www.bgsit.ac.in</a:t>
              </a:r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46A1E758-E160-5477-E7D1-C3F55680129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clrChange>
                <a:clrFrom>
                  <a:srgbClr val="FAE4EB"/>
                </a:clrFrom>
                <a:clrTo>
                  <a:srgbClr val="FAE4EB">
                    <a:alpha val="0"/>
                  </a:srgbClr>
                </a:clrTo>
              </a:clrChange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saturation sat="4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986544" y="817339"/>
              <a:ext cx="712029" cy="663482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D1380BC8-243C-B75F-54A5-F2366705FD35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19827" y="898545"/>
              <a:ext cx="615216" cy="607049"/>
            </a:xfrm>
            <a:prstGeom prst="rect">
              <a:avLst/>
            </a:prstGeom>
          </p:spPr>
        </p:pic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5A1C5009-E87D-C420-5687-24C154E6BFEA}"/>
                </a:ext>
              </a:extLst>
            </p:cNvPr>
            <p:cNvSpPr/>
            <p:nvPr/>
          </p:nvSpPr>
          <p:spPr>
            <a:xfrm>
              <a:off x="0" y="1505595"/>
              <a:ext cx="12192000" cy="445177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sp>
        <p:nvSpPr>
          <p:cNvPr id="13" name="Google Shape;76;p15">
            <a:extLst>
              <a:ext uri="{FF2B5EF4-FFF2-40B4-BE49-F238E27FC236}">
                <a16:creationId xmlns:a16="http://schemas.microsoft.com/office/drawing/2014/main" id="{EA2A3833-9457-2627-0F5C-F72765EEE026}"/>
              </a:ext>
            </a:extLst>
          </p:cNvPr>
          <p:cNvSpPr txBox="1"/>
          <p:nvPr/>
        </p:nvSpPr>
        <p:spPr>
          <a:xfrm>
            <a:off x="41741" y="1729438"/>
            <a:ext cx="2507369" cy="615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b="1" dirty="0">
                <a:solidFill>
                  <a:srgbClr val="002060"/>
                </a:solidFill>
                <a:latin typeface="Bookman Old Style" panose="02050604050505020204" pitchFamily="18" charset="0"/>
                <a:ea typeface="Georgia"/>
                <a:cs typeface="Dubai" panose="020B0503030403030204" pitchFamily="34" charset="-78"/>
                <a:sym typeface="Georgia"/>
              </a:rPr>
              <a:t>1. Abstract:</a:t>
            </a:r>
            <a:endParaRPr sz="2800" b="1" dirty="0">
              <a:solidFill>
                <a:srgbClr val="002060"/>
              </a:solidFill>
              <a:latin typeface="Bookman Old Style" panose="02050604050505020204" pitchFamily="18" charset="0"/>
              <a:ea typeface="Georgia"/>
              <a:cs typeface="Dubai" panose="020B0503030403030204" pitchFamily="34" charset="-78"/>
              <a:sym typeface="Georgia"/>
            </a:endParaRP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064C435D-84DD-B596-CFB7-E6FD76D0D8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E5D90C-BE40-4037-AC5E-CD620FE48C47}" type="slidenum">
              <a:rPr lang="en-IN" smtClean="0"/>
              <a:t>3</a:t>
            </a:fld>
            <a:endParaRPr lang="en-IN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6788A1C2-27ED-6A8C-E291-9B562CD649FB}"/>
              </a:ext>
            </a:extLst>
          </p:cNvPr>
          <p:cNvSpPr/>
          <p:nvPr/>
        </p:nvSpPr>
        <p:spPr>
          <a:xfrm>
            <a:off x="11407899" y="6176865"/>
            <a:ext cx="615821" cy="577939"/>
          </a:xfrm>
          <a:prstGeom prst="ellipse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2</a:t>
            </a:r>
          </a:p>
        </p:txBody>
      </p:sp>
      <p:sp>
        <p:nvSpPr>
          <p:cNvPr id="18" name="Rectangle 5">
            <a:extLst>
              <a:ext uri="{FF2B5EF4-FFF2-40B4-BE49-F238E27FC236}">
                <a16:creationId xmlns:a16="http://schemas.microsoft.com/office/drawing/2014/main" id="{9A2EC20E-D95C-96C5-9299-86434026DF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8280" y="2185770"/>
            <a:ext cx="11855440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dirty="0">
                <a:solidFill>
                  <a:schemeClr val="bg1"/>
                </a:solidFill>
              </a:rPr>
              <a:t> 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Unmanned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aerial and ground vehicles are widely used today in military and space research.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 Normal robotic vacuum cleaners work only on flat ground and cannot </a:t>
            </a:r>
            <a:r>
              <a:rPr lang="en-US" altLang="en-US" dirty="0">
                <a:solidFill>
                  <a:schemeClr val="bg1"/>
                </a:solidFill>
              </a:rPr>
              <a:t>overcome obstacles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 To solve this problem, we designed 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a UGAV (Unmanned Ground and Aerial Vehicle) with a vacuum cleaning in a single system.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 The vehicle has three functions: Flying (Drone mode), Driving (Rover mode)</a:t>
            </a:r>
            <a:r>
              <a:rPr lang="en-US" altLang="en-US" dirty="0">
                <a:solidFill>
                  <a:schemeClr val="bg1"/>
                </a:solidFill>
              </a:rPr>
              <a:t>, 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Vacuum cleaning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 The system can be controlled remotely from a distance .It saves energy by switching between flying and driving modes depending on the situation.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 After cleaning, the vehicle can fly to a disposal area to empty collected dust.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</a:endParaRPr>
          </a:p>
          <a:p>
            <a:pPr lvl="0" algn="just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dirty="0">
                <a:solidFill>
                  <a:schemeClr val="bg1"/>
                </a:solidFill>
              </a:rPr>
              <a:t>The vacuum cleaner collects lightweight dry waste such as dust, paper pieces, dry leaves, and plastic wrappers.</a:t>
            </a:r>
            <a:endParaRPr kumimoji="0" lang="en-US" altLang="en-US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8354110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B3FFF6CF-C7B7-D4F6-E6C8-133BA3F4363D}"/>
              </a:ext>
            </a:extLst>
          </p:cNvPr>
          <p:cNvGrpSpPr/>
          <p:nvPr/>
        </p:nvGrpSpPr>
        <p:grpSpPr>
          <a:xfrm>
            <a:off x="0" y="33184"/>
            <a:ext cx="12192000" cy="6824816"/>
            <a:chOff x="0" y="33184"/>
            <a:chExt cx="12192000" cy="5924190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3AC1E516-96FE-3008-F650-C3FFB9219663}"/>
                </a:ext>
              </a:extLst>
            </p:cNvPr>
            <p:cNvSpPr txBox="1"/>
            <p:nvPr/>
          </p:nvSpPr>
          <p:spPr>
            <a:xfrm>
              <a:off x="2167719" y="33184"/>
              <a:ext cx="7818825" cy="97513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1100" b="1" dirty="0">
                  <a:solidFill>
                    <a:srgbClr val="FF9900"/>
                  </a:solidFill>
                  <a:latin typeface="Bookman Old Style" panose="02050604050505020204" pitchFamily="18" charset="0"/>
                </a:rPr>
                <a:t>|| Jai Sri  Gurudev||</a:t>
              </a:r>
            </a:p>
            <a:p>
              <a:pPr algn="ctr"/>
              <a:r>
                <a:rPr lang="en-IN" b="1" dirty="0">
                  <a:latin typeface="Bookman Old Style" panose="02050604050505020204" pitchFamily="18" charset="0"/>
                </a:rPr>
                <a:t> </a:t>
              </a:r>
              <a:r>
                <a:rPr lang="en-IN" sz="2000" b="1" dirty="0">
                  <a:latin typeface="Bookman Old Style" panose="02050604050505020204" pitchFamily="18" charset="0"/>
                </a:rPr>
                <a:t>ADICHUNCHANAGIRI UNIVERSITY</a:t>
              </a:r>
            </a:p>
            <a:p>
              <a:pPr algn="ctr"/>
              <a:r>
                <a:rPr lang="en-IN" b="1" dirty="0">
                  <a:latin typeface="Bookman Old Style" panose="02050604050505020204" pitchFamily="18" charset="0"/>
                </a:rPr>
                <a:t> </a:t>
              </a:r>
              <a:r>
                <a:rPr lang="en-IN" b="1" dirty="0">
                  <a:solidFill>
                    <a:schemeClr val="accent1">
                      <a:lumMod val="20000"/>
                      <a:lumOff val="80000"/>
                    </a:schemeClr>
                  </a:solidFill>
                  <a:latin typeface="Bookman Old Style" panose="02050604050505020204" pitchFamily="18" charset="0"/>
                </a:rPr>
                <a:t>FACULTY OF ENGINEERING AND TECHNOLOGY</a:t>
              </a:r>
            </a:p>
            <a:p>
              <a:pPr algn="ctr"/>
              <a:r>
                <a:rPr lang="en-IN" b="1" dirty="0">
                  <a:solidFill>
                    <a:schemeClr val="accent1">
                      <a:lumMod val="20000"/>
                      <a:lumOff val="80000"/>
                    </a:schemeClr>
                  </a:solidFill>
                  <a:latin typeface="Bookman Old Style" panose="02050604050505020204" pitchFamily="18" charset="0"/>
                </a:rPr>
                <a:t>(BGS INSTITUTE OF TECHNOLOGY)</a:t>
              </a:r>
            </a:p>
          </p:txBody>
        </p:sp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80E8C81C-00A5-3C53-4F29-FFDB2C54420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7926" y="166850"/>
              <a:ext cx="800731" cy="923330"/>
            </a:xfrm>
            <a:prstGeom prst="ellipse">
              <a:avLst/>
            </a:prstGeom>
            <a:ln w="63500" cap="rnd">
              <a:solidFill>
                <a:srgbClr val="333333"/>
              </a:solidFill>
            </a:ln>
            <a:effectLst>
              <a:outerShdw blurRad="381000" dist="292100" dir="5400000" sx="-80000" sy="-18000" rotWithShape="0">
                <a:srgbClr val="000000">
                  <a:alpha val="22000"/>
                </a:srgbClr>
              </a:outerShdw>
            </a:effectLst>
            <a:scene3d>
              <a:camera prst="orthographicFront"/>
              <a:lightRig rig="contrasting" dir="t">
                <a:rot lat="0" lon="0" rev="3000000"/>
              </a:lightRig>
            </a:scene3d>
            <a:sp3d contourW="7620">
              <a:bevelT w="95250" h="31750"/>
              <a:contourClr>
                <a:srgbClr val="333333"/>
              </a:contourClr>
            </a:sp3d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9A5CAAA5-542C-E018-5363-ECB67DBC479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915591" y="166850"/>
              <a:ext cx="800219" cy="923330"/>
            </a:xfrm>
            <a:prstGeom prst="ellipse">
              <a:avLst/>
            </a:prstGeom>
            <a:ln w="63500" cap="rnd">
              <a:solidFill>
                <a:srgbClr val="333333"/>
              </a:solidFill>
            </a:ln>
            <a:effectLst>
              <a:outerShdw blurRad="381000" dist="292100" dir="5400000" sx="-80000" sy="-18000" rotWithShape="0">
                <a:srgbClr val="000000">
                  <a:alpha val="22000"/>
                </a:srgbClr>
              </a:outerShdw>
            </a:effectLst>
            <a:scene3d>
              <a:camera prst="orthographicFront"/>
              <a:lightRig rig="contrasting" dir="t">
                <a:rot lat="0" lon="0" rev="3000000"/>
              </a:lightRig>
            </a:scene3d>
            <a:sp3d contourW="7620">
              <a:bevelT w="95250" h="31750"/>
              <a:contourClr>
                <a:srgbClr val="333333"/>
              </a:contourClr>
            </a:sp3d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600A33CC-E48E-604B-238F-013EDF93209B}"/>
                </a:ext>
              </a:extLst>
            </p:cNvPr>
            <p:cNvSpPr txBox="1"/>
            <p:nvPr/>
          </p:nvSpPr>
          <p:spPr>
            <a:xfrm>
              <a:off x="2486518" y="940459"/>
              <a:ext cx="744855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1400" b="1" dirty="0">
                  <a:solidFill>
                    <a:schemeClr val="accent1">
                      <a:lumMod val="60000"/>
                      <a:lumOff val="40000"/>
                    </a:schemeClr>
                  </a:solidFill>
                  <a:latin typeface="Dubai" panose="020B0503030403030204" pitchFamily="34" charset="-78"/>
                  <a:cs typeface="Dubai" panose="020B0503030403030204" pitchFamily="34" charset="-78"/>
                </a:rPr>
                <a:t>BG Nagara, Nagamangala Taluk, Mandya District, Karnataka, India-571448</a:t>
              </a:r>
            </a:p>
            <a:p>
              <a:pPr algn="ctr"/>
              <a:r>
                <a:rPr lang="en-IN" sz="1400" b="1" dirty="0">
                  <a:solidFill>
                    <a:schemeClr val="accent1">
                      <a:lumMod val="60000"/>
                      <a:lumOff val="40000"/>
                    </a:schemeClr>
                  </a:solidFill>
                  <a:latin typeface="Dubai" panose="020B0503030403030204" pitchFamily="34" charset="-78"/>
                  <a:cs typeface="Dubai" panose="020B0503030403030204" pitchFamily="34" charset="-78"/>
                  <a:hlinkClick r:id="rId4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Tel: 08234-28841-419</a:t>
              </a:r>
              <a:r>
                <a:rPr lang="en-IN" sz="1400" b="1" dirty="0">
                  <a:solidFill>
                    <a:schemeClr val="accent1">
                      <a:lumMod val="60000"/>
                      <a:lumOff val="40000"/>
                    </a:schemeClr>
                  </a:solidFill>
                  <a:latin typeface="Dubai" panose="020B0503030403030204" pitchFamily="34" charset="-78"/>
                  <a:cs typeface="Dubai" panose="020B0503030403030204" pitchFamily="34" charset="-78"/>
                </a:rPr>
                <a:t>, Web: www.bgsit.ac.in</a:t>
              </a:r>
            </a:p>
          </p:txBody>
        </p: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88B98C50-57BC-11E2-F601-573B94F1614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clrChange>
                <a:clrFrom>
                  <a:srgbClr val="FAE4EB"/>
                </a:clrFrom>
                <a:clrTo>
                  <a:srgbClr val="FAE4EB">
                    <a:alpha val="0"/>
                  </a:srgbClr>
                </a:clrTo>
              </a:clrChange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saturation sat="4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978421" y="842113"/>
              <a:ext cx="712029" cy="663482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F0F06FEE-4A98-D4F0-18A0-DD2D92EFE272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19827" y="898545"/>
              <a:ext cx="615216" cy="607049"/>
            </a:xfrm>
            <a:prstGeom prst="rect">
              <a:avLst/>
            </a:prstGeom>
          </p:spPr>
        </p:pic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2913FC3-06C7-D550-DDAE-D7E0079360A5}"/>
                </a:ext>
              </a:extLst>
            </p:cNvPr>
            <p:cNvSpPr/>
            <p:nvPr/>
          </p:nvSpPr>
          <p:spPr>
            <a:xfrm>
              <a:off x="0" y="1505595"/>
              <a:ext cx="12192000" cy="445177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sp>
        <p:nvSpPr>
          <p:cNvPr id="14" name="Google Shape;76;p15">
            <a:extLst>
              <a:ext uri="{FF2B5EF4-FFF2-40B4-BE49-F238E27FC236}">
                <a16:creationId xmlns:a16="http://schemas.microsoft.com/office/drawing/2014/main" id="{3B03E9A7-7050-CC31-C9DF-1606F7B7F324}"/>
              </a:ext>
            </a:extLst>
          </p:cNvPr>
          <p:cNvSpPr txBox="1"/>
          <p:nvPr/>
        </p:nvSpPr>
        <p:spPr>
          <a:xfrm>
            <a:off x="111967" y="1748083"/>
            <a:ext cx="3659550" cy="6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/>
            <a:r>
              <a:rPr lang="en-US" sz="3000" b="1" dirty="0">
                <a:solidFill>
                  <a:srgbClr val="002060"/>
                </a:solidFill>
                <a:latin typeface="Bookman Old Style" panose="02050604050505020204" pitchFamily="18" charset="0"/>
                <a:ea typeface="Georgia"/>
                <a:cs typeface="Dubai" panose="020B0503030403030204" pitchFamily="34" charset="-78"/>
                <a:sym typeface="Georgia"/>
              </a:rPr>
              <a:t>2. Introduction:</a:t>
            </a: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8D719F17-A3E1-82F8-0D12-C483EE79AB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E5D90C-BE40-4037-AC5E-CD620FE48C47}" type="slidenum">
              <a:rPr lang="en-IN" smtClean="0"/>
              <a:t>4</a:t>
            </a:fld>
            <a:endParaRPr lang="en-IN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FF87A781-6F18-5641-FBA4-C3D82D1E6140}"/>
              </a:ext>
            </a:extLst>
          </p:cNvPr>
          <p:cNvSpPr/>
          <p:nvPr/>
        </p:nvSpPr>
        <p:spPr>
          <a:xfrm>
            <a:off x="11407899" y="6176865"/>
            <a:ext cx="615821" cy="577939"/>
          </a:xfrm>
          <a:prstGeom prst="ellipse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3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8A614FC-8BA2-DDA5-34BE-214710BFAA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4399" y="2357017"/>
            <a:ext cx="11448614" cy="42473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just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 </a:t>
            </a:r>
            <a:r>
              <a:rPr lang="en-US" dirty="0">
                <a:solidFill>
                  <a:schemeClr val="bg1"/>
                </a:solidFill>
              </a:rPr>
              <a:t>Waste collection and disposal is an important challenge in cities, industries, railway stations, and public places.</a:t>
            </a:r>
          </a:p>
          <a:p>
            <a:pPr lvl="0" algn="just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</a:endParaRPr>
          </a:p>
          <a:p>
            <a:pPr lvl="0" algn="just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 </a:t>
            </a:r>
            <a:r>
              <a:rPr lang="en-US" dirty="0">
                <a:solidFill>
                  <a:schemeClr val="bg1"/>
                </a:solidFill>
              </a:rPr>
              <a:t>Manual cleaning requires more time, effort, and may expose workers to hazardous waste and unhealthy environments.</a:t>
            </a:r>
          </a:p>
          <a:p>
            <a:pPr lvl="0" algn="just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</a:endParaRPr>
          </a:p>
          <a:p>
            <a:pPr lvl="0" algn="just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 </a:t>
            </a:r>
            <a:r>
              <a:rPr lang="en-US" dirty="0">
                <a:solidFill>
                  <a:schemeClr val="bg1"/>
                </a:solidFill>
              </a:rPr>
              <a:t>Existing cleaning robots are mostly limited to flat surfaces and cannot easily handle stairs, obstacles, or rough terrains.</a:t>
            </a:r>
          </a:p>
          <a:p>
            <a:pPr lvl="0" algn="just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 New intelligent robots with wireless internet improve interaction with users.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</a:endParaRPr>
          </a:p>
          <a:p>
            <a:pPr lvl="0" algn="just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 </a:t>
            </a:r>
            <a:r>
              <a:rPr lang="en-US" dirty="0">
                <a:solidFill>
                  <a:schemeClr val="bg1"/>
                </a:solidFill>
              </a:rPr>
              <a:t>Hybrid robotic platforms combining aerial and ground mobility provide better flexibility and accessibility in complex environments.</a:t>
            </a:r>
          </a:p>
          <a:p>
            <a:pPr lvl="0" algn="just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 Unmanned Ground and Aerial Vehicle(UGAV)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combines UAV (flying) and UGV (driving) into one machine.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8640328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EC2A633F-D6C7-7288-8185-878B992AF307}"/>
              </a:ext>
            </a:extLst>
          </p:cNvPr>
          <p:cNvGrpSpPr/>
          <p:nvPr/>
        </p:nvGrpSpPr>
        <p:grpSpPr>
          <a:xfrm>
            <a:off x="0" y="33184"/>
            <a:ext cx="12192000" cy="6824816"/>
            <a:chOff x="0" y="33184"/>
            <a:chExt cx="12192000" cy="5924190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B741852A-73AF-AC6F-65DD-3C6E1E191082}"/>
                </a:ext>
              </a:extLst>
            </p:cNvPr>
            <p:cNvSpPr txBox="1"/>
            <p:nvPr/>
          </p:nvSpPr>
          <p:spPr>
            <a:xfrm>
              <a:off x="2167719" y="33184"/>
              <a:ext cx="7818825" cy="97513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1100" b="1" dirty="0">
                  <a:solidFill>
                    <a:srgbClr val="FF9900"/>
                  </a:solidFill>
                  <a:latin typeface="Bookman Old Style" panose="02050604050505020204" pitchFamily="18" charset="0"/>
                </a:rPr>
                <a:t>|| Jai Sri  Gurudev||</a:t>
              </a:r>
            </a:p>
            <a:p>
              <a:pPr algn="ctr"/>
              <a:r>
                <a:rPr lang="en-IN" b="1" dirty="0">
                  <a:latin typeface="Bookman Old Style" panose="02050604050505020204" pitchFamily="18" charset="0"/>
                </a:rPr>
                <a:t> </a:t>
              </a:r>
              <a:r>
                <a:rPr lang="en-IN" sz="2000" b="1" dirty="0">
                  <a:latin typeface="Bookman Old Style" panose="02050604050505020204" pitchFamily="18" charset="0"/>
                </a:rPr>
                <a:t>ADICHUNCHANAGIRI UNIVERSITY</a:t>
              </a:r>
            </a:p>
            <a:p>
              <a:pPr algn="ctr"/>
              <a:r>
                <a:rPr lang="en-IN" b="1" dirty="0">
                  <a:latin typeface="Bookman Old Style" panose="02050604050505020204" pitchFamily="18" charset="0"/>
                </a:rPr>
                <a:t> </a:t>
              </a:r>
              <a:r>
                <a:rPr lang="en-IN" b="1" dirty="0">
                  <a:solidFill>
                    <a:schemeClr val="accent1">
                      <a:lumMod val="20000"/>
                      <a:lumOff val="80000"/>
                    </a:schemeClr>
                  </a:solidFill>
                  <a:latin typeface="Bookman Old Style" panose="02050604050505020204" pitchFamily="18" charset="0"/>
                </a:rPr>
                <a:t>FACULTY OF ENGINEERING AND TECHNOLOGY</a:t>
              </a:r>
            </a:p>
            <a:p>
              <a:pPr algn="ctr"/>
              <a:r>
                <a:rPr lang="en-IN" b="1" dirty="0">
                  <a:solidFill>
                    <a:schemeClr val="accent1">
                      <a:lumMod val="20000"/>
                      <a:lumOff val="80000"/>
                    </a:schemeClr>
                  </a:solidFill>
                  <a:latin typeface="Bookman Old Style" panose="02050604050505020204" pitchFamily="18" charset="0"/>
                </a:rPr>
                <a:t>(BGS INSTITUTE OF TECHNOLOGY)</a:t>
              </a:r>
            </a:p>
          </p:txBody>
        </p: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F4BBEEB7-8A4C-46B3-CED9-5E03C115896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7926" y="166850"/>
              <a:ext cx="800731" cy="923330"/>
            </a:xfrm>
            <a:prstGeom prst="ellipse">
              <a:avLst/>
            </a:prstGeom>
            <a:ln w="63500" cap="rnd">
              <a:solidFill>
                <a:srgbClr val="333333"/>
              </a:solidFill>
            </a:ln>
            <a:effectLst>
              <a:outerShdw blurRad="381000" dist="292100" dir="5400000" sx="-80000" sy="-18000" rotWithShape="0">
                <a:srgbClr val="000000">
                  <a:alpha val="22000"/>
                </a:srgbClr>
              </a:outerShdw>
            </a:effectLst>
            <a:scene3d>
              <a:camera prst="orthographicFront"/>
              <a:lightRig rig="contrasting" dir="t">
                <a:rot lat="0" lon="0" rev="3000000"/>
              </a:lightRig>
            </a:scene3d>
            <a:sp3d contourW="7620">
              <a:bevelT w="95250" h="31750"/>
              <a:contourClr>
                <a:srgbClr val="333333"/>
              </a:contourClr>
            </a:sp3d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16B7B595-DDB9-F88A-D911-918447DDBA6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915591" y="166850"/>
              <a:ext cx="800219" cy="923330"/>
            </a:xfrm>
            <a:prstGeom prst="ellipse">
              <a:avLst/>
            </a:prstGeom>
            <a:ln w="63500" cap="rnd">
              <a:solidFill>
                <a:srgbClr val="333333"/>
              </a:solidFill>
            </a:ln>
            <a:effectLst>
              <a:outerShdw blurRad="381000" dist="292100" dir="5400000" sx="-80000" sy="-18000" rotWithShape="0">
                <a:srgbClr val="000000">
                  <a:alpha val="22000"/>
                </a:srgbClr>
              </a:outerShdw>
            </a:effectLst>
            <a:scene3d>
              <a:camera prst="orthographicFront"/>
              <a:lightRig rig="contrasting" dir="t">
                <a:rot lat="0" lon="0" rev="3000000"/>
              </a:lightRig>
            </a:scene3d>
            <a:sp3d contourW="7620">
              <a:bevelT w="95250" h="31750"/>
              <a:contourClr>
                <a:srgbClr val="333333"/>
              </a:contourClr>
            </a:sp3d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0CB0FF69-3517-29A3-950A-4AB16706A5D2}"/>
                </a:ext>
              </a:extLst>
            </p:cNvPr>
            <p:cNvSpPr txBox="1"/>
            <p:nvPr/>
          </p:nvSpPr>
          <p:spPr>
            <a:xfrm>
              <a:off x="2537994" y="926429"/>
              <a:ext cx="744855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1400" b="1" dirty="0">
                  <a:solidFill>
                    <a:schemeClr val="accent1">
                      <a:lumMod val="60000"/>
                      <a:lumOff val="40000"/>
                    </a:schemeClr>
                  </a:solidFill>
                  <a:latin typeface="Dubai" panose="020B0503030403030204" pitchFamily="34" charset="-78"/>
                  <a:cs typeface="Dubai" panose="020B0503030403030204" pitchFamily="34" charset="-78"/>
                </a:rPr>
                <a:t>BG Nagara, Nagamangala Taluk, Mandya District, Karnataka, India-571448</a:t>
              </a:r>
            </a:p>
            <a:p>
              <a:pPr algn="ctr"/>
              <a:r>
                <a:rPr lang="en-IN" sz="1400" b="1" dirty="0">
                  <a:solidFill>
                    <a:schemeClr val="accent1">
                      <a:lumMod val="60000"/>
                      <a:lumOff val="40000"/>
                    </a:schemeClr>
                  </a:solidFill>
                  <a:latin typeface="Dubai" panose="020B0503030403030204" pitchFamily="34" charset="-78"/>
                  <a:cs typeface="Dubai" panose="020B0503030403030204" pitchFamily="34" charset="-78"/>
                  <a:hlinkClick r:id="rId4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Tel: 08234-28841-419</a:t>
              </a:r>
              <a:r>
                <a:rPr lang="en-IN" sz="1400" b="1" dirty="0">
                  <a:solidFill>
                    <a:schemeClr val="accent1">
                      <a:lumMod val="60000"/>
                      <a:lumOff val="40000"/>
                    </a:schemeClr>
                  </a:solidFill>
                  <a:latin typeface="Dubai" panose="020B0503030403030204" pitchFamily="34" charset="-78"/>
                  <a:cs typeface="Dubai" panose="020B0503030403030204" pitchFamily="34" charset="-78"/>
                </a:rPr>
                <a:t>, Web: www.bgsit.ac.in</a:t>
              </a:r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48DC1021-0AEC-C395-96FC-E078FD5D81B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clrChange>
                <a:clrFrom>
                  <a:srgbClr val="FAE4EB"/>
                </a:clrFrom>
                <a:clrTo>
                  <a:srgbClr val="FAE4EB">
                    <a:alpha val="0"/>
                  </a:srgbClr>
                </a:clrTo>
              </a:clrChange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saturation sat="4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999493" y="824827"/>
              <a:ext cx="712029" cy="663482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FB0B77CB-2851-E1AF-CA2A-55E4E02B0C72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10096" y="853044"/>
              <a:ext cx="615216" cy="607049"/>
            </a:xfrm>
            <a:prstGeom prst="rect">
              <a:avLst/>
            </a:prstGeom>
          </p:spPr>
        </p:pic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BBBDCDF9-9026-CDD1-73FD-389D317274BB}"/>
                </a:ext>
              </a:extLst>
            </p:cNvPr>
            <p:cNvSpPr/>
            <p:nvPr/>
          </p:nvSpPr>
          <p:spPr>
            <a:xfrm>
              <a:off x="0" y="1488309"/>
              <a:ext cx="12192000" cy="4469065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sp>
        <p:nvSpPr>
          <p:cNvPr id="13" name="Google Shape;76;p15">
            <a:extLst>
              <a:ext uri="{FF2B5EF4-FFF2-40B4-BE49-F238E27FC236}">
                <a16:creationId xmlns:a16="http://schemas.microsoft.com/office/drawing/2014/main" id="{825DCEC2-81DB-C370-D835-7E76E6BD563C}"/>
              </a:ext>
            </a:extLst>
          </p:cNvPr>
          <p:cNvSpPr txBox="1"/>
          <p:nvPr/>
        </p:nvSpPr>
        <p:spPr>
          <a:xfrm>
            <a:off x="66899" y="1736043"/>
            <a:ext cx="4716825" cy="6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/>
            <a:r>
              <a:rPr lang="en-US" sz="3000" b="1" dirty="0">
                <a:solidFill>
                  <a:srgbClr val="002060"/>
                </a:solidFill>
                <a:latin typeface="Bookman Old Style" panose="02050604050505020204" pitchFamily="18" charset="0"/>
                <a:ea typeface="Georgia"/>
                <a:cs typeface="Dubai" panose="020B0503030403030204" pitchFamily="34" charset="-78"/>
                <a:sym typeface="Georgia"/>
              </a:rPr>
              <a:t>3. Problem Definition: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50EA5F5-4F5F-7C63-CD31-8D875C2526D9}"/>
              </a:ext>
            </a:extLst>
          </p:cNvPr>
          <p:cNvSpPr txBox="1"/>
          <p:nvPr/>
        </p:nvSpPr>
        <p:spPr>
          <a:xfrm>
            <a:off x="542059" y="2408861"/>
            <a:ext cx="11107881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dirty="0">
                <a:solidFill>
                  <a:schemeClr val="bg1"/>
                </a:solidFill>
              </a:rPr>
              <a:t>Manual waste collection in hazardous, dirty, and hard-to-reach areas is often time-consuming, risky, and inefficient. Existing vacuum cleaners are limited to flat surfaces, while drones cannot perform cleaning operations effectively. Therefore, a hybrid UGAV system is proposed to collect waste on the ground and fly over obstacles for safe and efficient waste disposal.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39F76C0B-3FA9-6B6F-B86F-7F246A9A4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E5D90C-BE40-4037-AC5E-CD620FE48C47}" type="slidenum">
              <a:rPr lang="en-IN" smtClean="0"/>
              <a:t>5</a:t>
            </a:fld>
            <a:endParaRPr lang="en-IN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B051033C-A76F-6DC1-81B6-853C1D75293F}"/>
              </a:ext>
            </a:extLst>
          </p:cNvPr>
          <p:cNvSpPr/>
          <p:nvPr/>
        </p:nvSpPr>
        <p:spPr>
          <a:xfrm>
            <a:off x="11407899" y="6176865"/>
            <a:ext cx="615821" cy="577939"/>
          </a:xfrm>
          <a:prstGeom prst="ellipse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2473604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9B3D32A3-F208-9258-7BE3-0552136FB009}"/>
              </a:ext>
            </a:extLst>
          </p:cNvPr>
          <p:cNvGrpSpPr/>
          <p:nvPr/>
        </p:nvGrpSpPr>
        <p:grpSpPr>
          <a:xfrm>
            <a:off x="0" y="33184"/>
            <a:ext cx="12192000" cy="6824816"/>
            <a:chOff x="0" y="33184"/>
            <a:chExt cx="12192000" cy="5924190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EB5BBE47-8131-FEDF-62EB-1026E7A08170}"/>
                </a:ext>
              </a:extLst>
            </p:cNvPr>
            <p:cNvSpPr txBox="1"/>
            <p:nvPr/>
          </p:nvSpPr>
          <p:spPr>
            <a:xfrm>
              <a:off x="2167719" y="33184"/>
              <a:ext cx="7818825" cy="97513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1100" b="1" dirty="0">
                  <a:solidFill>
                    <a:schemeClr val="accent6"/>
                  </a:solidFill>
                  <a:latin typeface="Bookman Old Style" panose="02050604050505020204" pitchFamily="18" charset="0"/>
                </a:rPr>
                <a:t>|| Jai Sri  Gurudev||</a:t>
              </a:r>
            </a:p>
            <a:p>
              <a:pPr algn="ctr"/>
              <a:r>
                <a:rPr lang="en-IN" b="1" dirty="0">
                  <a:latin typeface="Bookman Old Style" panose="02050604050505020204" pitchFamily="18" charset="0"/>
                </a:rPr>
                <a:t> </a:t>
              </a:r>
              <a:r>
                <a:rPr lang="en-IN" sz="2000" b="1" dirty="0">
                  <a:latin typeface="Bookman Old Style" panose="02050604050505020204" pitchFamily="18" charset="0"/>
                </a:rPr>
                <a:t>ADICHUNCHANAGIRI UNIVERSITY</a:t>
              </a:r>
            </a:p>
            <a:p>
              <a:pPr algn="ctr"/>
              <a:r>
                <a:rPr lang="en-IN" b="1" dirty="0">
                  <a:latin typeface="Bookman Old Style" panose="02050604050505020204" pitchFamily="18" charset="0"/>
                </a:rPr>
                <a:t> FACULTY OF ENGINEERING AND TECHNOLOGY</a:t>
              </a:r>
            </a:p>
            <a:p>
              <a:pPr algn="ctr"/>
              <a:r>
                <a:rPr lang="en-IN" b="1" dirty="0">
                  <a:latin typeface="Bookman Old Style" panose="02050604050505020204" pitchFamily="18" charset="0"/>
                </a:rPr>
                <a:t>(BGS INSTITUTE OF TECHNOLOGY)</a:t>
              </a:r>
            </a:p>
          </p:txBody>
        </p: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3BB95BF2-CCAF-8970-B02B-D1702B6C891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7926" y="166850"/>
              <a:ext cx="800731" cy="923330"/>
            </a:xfrm>
            <a:prstGeom prst="ellipse">
              <a:avLst/>
            </a:prstGeom>
            <a:ln w="63500" cap="rnd">
              <a:solidFill>
                <a:srgbClr val="333333"/>
              </a:solidFill>
            </a:ln>
            <a:effectLst>
              <a:outerShdw blurRad="381000" dist="292100" dir="5400000" sx="-80000" sy="-18000" rotWithShape="0">
                <a:srgbClr val="000000">
                  <a:alpha val="22000"/>
                </a:srgbClr>
              </a:outerShdw>
            </a:effectLst>
            <a:scene3d>
              <a:camera prst="orthographicFront"/>
              <a:lightRig rig="contrasting" dir="t">
                <a:rot lat="0" lon="0" rev="3000000"/>
              </a:lightRig>
            </a:scene3d>
            <a:sp3d contourW="7620">
              <a:bevelT w="95250" h="31750"/>
              <a:contourClr>
                <a:srgbClr val="333333"/>
              </a:contourClr>
            </a:sp3d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4AB519D3-3D3B-87B7-B6FA-90B7B36DFE4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915591" y="166850"/>
              <a:ext cx="800219" cy="923330"/>
            </a:xfrm>
            <a:prstGeom prst="ellipse">
              <a:avLst/>
            </a:prstGeom>
            <a:ln w="63500" cap="rnd">
              <a:solidFill>
                <a:srgbClr val="333333"/>
              </a:solidFill>
            </a:ln>
            <a:effectLst>
              <a:outerShdw blurRad="381000" dist="292100" dir="5400000" sx="-80000" sy="-18000" rotWithShape="0">
                <a:srgbClr val="000000">
                  <a:alpha val="22000"/>
                </a:srgbClr>
              </a:outerShdw>
            </a:effectLst>
            <a:scene3d>
              <a:camera prst="orthographicFront"/>
              <a:lightRig rig="contrasting" dir="t">
                <a:rot lat="0" lon="0" rev="3000000"/>
              </a:lightRig>
            </a:scene3d>
            <a:sp3d contourW="7620">
              <a:bevelT w="95250" h="31750"/>
              <a:contourClr>
                <a:srgbClr val="333333"/>
              </a:contourClr>
            </a:sp3d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924276FA-AA15-F747-0CE3-42499ABF7208}"/>
                </a:ext>
              </a:extLst>
            </p:cNvPr>
            <p:cNvSpPr txBox="1"/>
            <p:nvPr/>
          </p:nvSpPr>
          <p:spPr>
            <a:xfrm>
              <a:off x="2537994" y="940459"/>
              <a:ext cx="7448550" cy="4541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1400" b="1" dirty="0">
                  <a:solidFill>
                    <a:schemeClr val="tx2"/>
                  </a:solidFill>
                  <a:latin typeface="Dubai" panose="020B0503030403030204" pitchFamily="34" charset="-78"/>
                  <a:cs typeface="Dubai" panose="020B0503030403030204" pitchFamily="34" charset="-78"/>
                </a:rPr>
                <a:t>BG Nagara, Nagamangala Taluk, Mandya District, Karnataka, India-571448</a:t>
              </a:r>
            </a:p>
            <a:p>
              <a:pPr algn="ctr"/>
              <a:r>
                <a:rPr lang="en-IN" sz="1400" b="1" dirty="0">
                  <a:solidFill>
                    <a:schemeClr val="tx2"/>
                  </a:solidFill>
                  <a:latin typeface="Dubai" panose="020B0503030403030204" pitchFamily="34" charset="-78"/>
                  <a:cs typeface="Dubai" panose="020B0503030403030204" pitchFamily="34" charset="-78"/>
                  <a:hlinkClick r:id="rId4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Tel: 08234-28841-419</a:t>
              </a:r>
              <a:r>
                <a:rPr lang="en-IN" sz="1400" b="1" dirty="0">
                  <a:solidFill>
                    <a:schemeClr val="tx2"/>
                  </a:solidFill>
                  <a:latin typeface="Dubai" panose="020B0503030403030204" pitchFamily="34" charset="-78"/>
                  <a:cs typeface="Dubai" panose="020B0503030403030204" pitchFamily="34" charset="-78"/>
                </a:rPr>
                <a:t>, Web: www.bgsit.ac.in</a:t>
              </a:r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5A482E24-43AC-F63B-0FA8-36D0A1A2A5B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clrChange>
                <a:clrFrom>
                  <a:srgbClr val="FAE4EB"/>
                </a:clrFrom>
                <a:clrTo>
                  <a:srgbClr val="FAE4EB">
                    <a:alpha val="0"/>
                  </a:srgbClr>
                </a:clrTo>
              </a:clrChange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saturation sat="4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986544" y="800198"/>
              <a:ext cx="712029" cy="663482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32442592-7637-A2B1-BE04-CDDBC01D5822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60111" y="815723"/>
              <a:ext cx="615216" cy="607049"/>
            </a:xfrm>
            <a:prstGeom prst="rect">
              <a:avLst/>
            </a:prstGeom>
          </p:spPr>
        </p:pic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9F6F28D8-16C5-E022-E382-ABA6D9A2B9B8}"/>
                </a:ext>
              </a:extLst>
            </p:cNvPr>
            <p:cNvSpPr/>
            <p:nvPr/>
          </p:nvSpPr>
          <p:spPr>
            <a:xfrm>
              <a:off x="0" y="1463680"/>
              <a:ext cx="12192000" cy="4493694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solidFill>
                  <a:schemeClr val="bg1"/>
                </a:solidFill>
              </a:endParaRPr>
            </a:p>
          </p:txBody>
        </p:sp>
      </p:grpSp>
      <p:sp>
        <p:nvSpPr>
          <p:cNvPr id="13" name="Google Shape;76;p15">
            <a:extLst>
              <a:ext uri="{FF2B5EF4-FFF2-40B4-BE49-F238E27FC236}">
                <a16:creationId xmlns:a16="http://schemas.microsoft.com/office/drawing/2014/main" id="{153D1DDE-CEF4-1685-F6A3-BCFAA0A1B539}"/>
              </a:ext>
            </a:extLst>
          </p:cNvPr>
          <p:cNvSpPr txBox="1"/>
          <p:nvPr/>
        </p:nvSpPr>
        <p:spPr>
          <a:xfrm>
            <a:off x="91890" y="1692068"/>
            <a:ext cx="4593000" cy="6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/>
            <a:r>
              <a:rPr lang="en-US" sz="3000" b="1" dirty="0">
                <a:solidFill>
                  <a:srgbClr val="002060"/>
                </a:solidFill>
                <a:latin typeface="Bookman Old Style" panose="02050604050505020204" pitchFamily="18" charset="0"/>
                <a:ea typeface="Georgia"/>
                <a:cs typeface="Dubai" panose="020B0503030403030204" pitchFamily="34" charset="-78"/>
                <a:sym typeface="Georgia"/>
              </a:rPr>
              <a:t>4. Literature survey: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CF85D8BE-43A8-9E49-B13D-CCB7AC8842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E5D90C-BE40-4037-AC5E-CD620FE48C47}" type="slidenum">
              <a:rPr lang="en-IN" smtClean="0"/>
              <a:t>6</a:t>
            </a:fld>
            <a:endParaRPr lang="en-IN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4C114234-BE11-3A3A-9C2F-27EDE47440D6}"/>
              </a:ext>
            </a:extLst>
          </p:cNvPr>
          <p:cNvSpPr/>
          <p:nvPr/>
        </p:nvSpPr>
        <p:spPr>
          <a:xfrm>
            <a:off x="11407899" y="6176865"/>
            <a:ext cx="615821" cy="577939"/>
          </a:xfrm>
          <a:prstGeom prst="ellipse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5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0769CF29-1032-7E11-53A7-09089CC95B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9517425"/>
              </p:ext>
            </p:extLst>
          </p:nvPr>
        </p:nvGraphicFramePr>
        <p:xfrm>
          <a:off x="249382" y="2535530"/>
          <a:ext cx="10585348" cy="1097280"/>
        </p:xfrm>
        <a:graphic>
          <a:graphicData uri="http://schemas.openxmlformats.org/drawingml/2006/table">
            <a:tbl>
              <a:tblPr/>
              <a:tblGrid>
                <a:gridCol w="2646337">
                  <a:extLst>
                    <a:ext uri="{9D8B030D-6E8A-4147-A177-3AD203B41FA5}">
                      <a16:colId xmlns:a16="http://schemas.microsoft.com/office/drawing/2014/main" val="2248484638"/>
                    </a:ext>
                  </a:extLst>
                </a:gridCol>
                <a:gridCol w="2646337">
                  <a:extLst>
                    <a:ext uri="{9D8B030D-6E8A-4147-A177-3AD203B41FA5}">
                      <a16:colId xmlns:a16="http://schemas.microsoft.com/office/drawing/2014/main" val="1128117367"/>
                    </a:ext>
                  </a:extLst>
                </a:gridCol>
                <a:gridCol w="2646337">
                  <a:extLst>
                    <a:ext uri="{9D8B030D-6E8A-4147-A177-3AD203B41FA5}">
                      <a16:colId xmlns:a16="http://schemas.microsoft.com/office/drawing/2014/main" val="4203259956"/>
                    </a:ext>
                  </a:extLst>
                </a:gridCol>
                <a:gridCol w="2646337">
                  <a:extLst>
                    <a:ext uri="{9D8B030D-6E8A-4147-A177-3AD203B41FA5}">
                      <a16:colId xmlns:a16="http://schemas.microsoft.com/office/drawing/2014/main" val="245966458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endParaRPr lang="en-IN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endParaRPr lang="en-IN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endParaRPr lang="en-IN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endParaRPr lang="en-IN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504186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endParaRPr lang="en-IN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endParaRPr lang="pt-BR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endParaRPr lang="en-US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25884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endParaRPr lang="en-IN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endParaRPr lang="en-IN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2470510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F8888972-7431-8C76-2B47-925843A1CD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6972671"/>
              </p:ext>
            </p:extLst>
          </p:nvPr>
        </p:nvGraphicFramePr>
        <p:xfrm>
          <a:off x="2919845" y="3387436"/>
          <a:ext cx="208280" cy="3314700"/>
        </p:xfrm>
        <a:graphic>
          <a:graphicData uri="http://schemas.openxmlformats.org/drawingml/2006/table">
            <a:tbl>
              <a:tblPr/>
              <a:tblGrid>
                <a:gridCol w="208280">
                  <a:extLst>
                    <a:ext uri="{9D8B030D-6E8A-4147-A177-3AD203B41FA5}">
                      <a16:colId xmlns:a16="http://schemas.microsoft.com/office/drawing/2014/main" val="3917964396"/>
                    </a:ext>
                  </a:extLst>
                </a:gridCol>
              </a:tblGrid>
              <a:tr h="331470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91579526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D454B8BC-CE67-86D8-6BA1-02CD478763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5685914"/>
              </p:ext>
            </p:extLst>
          </p:nvPr>
        </p:nvGraphicFramePr>
        <p:xfrm>
          <a:off x="168280" y="2499779"/>
          <a:ext cx="11754295" cy="403548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7442">
                  <a:extLst>
                    <a:ext uri="{9D8B030D-6E8A-4147-A177-3AD203B41FA5}">
                      <a16:colId xmlns:a16="http://schemas.microsoft.com/office/drawing/2014/main" val="2903753206"/>
                    </a:ext>
                  </a:extLst>
                </a:gridCol>
                <a:gridCol w="2637065">
                  <a:extLst>
                    <a:ext uri="{9D8B030D-6E8A-4147-A177-3AD203B41FA5}">
                      <a16:colId xmlns:a16="http://schemas.microsoft.com/office/drawing/2014/main" val="1551754145"/>
                    </a:ext>
                  </a:extLst>
                </a:gridCol>
                <a:gridCol w="2759528">
                  <a:extLst>
                    <a:ext uri="{9D8B030D-6E8A-4147-A177-3AD203B41FA5}">
                      <a16:colId xmlns:a16="http://schemas.microsoft.com/office/drawing/2014/main" val="3417969971"/>
                    </a:ext>
                  </a:extLst>
                </a:gridCol>
                <a:gridCol w="1551214">
                  <a:extLst>
                    <a:ext uri="{9D8B030D-6E8A-4147-A177-3AD203B41FA5}">
                      <a16:colId xmlns:a16="http://schemas.microsoft.com/office/drawing/2014/main" val="3113537110"/>
                    </a:ext>
                  </a:extLst>
                </a:gridCol>
                <a:gridCol w="4039046">
                  <a:extLst>
                    <a:ext uri="{9D8B030D-6E8A-4147-A177-3AD203B41FA5}">
                      <a16:colId xmlns:a16="http://schemas.microsoft.com/office/drawing/2014/main" val="2886457543"/>
                    </a:ext>
                  </a:extLst>
                </a:gridCol>
              </a:tblGrid>
              <a:tr h="482013">
                <a:tc>
                  <a:txBody>
                    <a:bodyPr/>
                    <a:lstStyle/>
                    <a:p>
                      <a:r>
                        <a:rPr lang="en-IN" dirty="0" err="1"/>
                        <a:t>Sl.No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       Author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    Title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     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6888960"/>
                  </a:ext>
                </a:extLst>
              </a:tr>
              <a:tr h="831858">
                <a:tc>
                  <a:txBody>
                    <a:bodyPr/>
                    <a:lstStyle/>
                    <a:p>
                      <a:r>
                        <a:rPr lang="en-IN" dirty="0"/>
                        <a:t>  1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b="1" dirty="0"/>
                        <a:t>T. Bright &amp; S. Adali</a:t>
                      </a:r>
                    </a:p>
                    <a:p>
                      <a:endParaRPr lang="en-IN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The Application of AI Powered Drone Technology with Computer Vision and Deep Learning Networks in Waste Management</a:t>
                      </a:r>
                      <a:endParaRPr lang="en-IN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/>
                      <a:r>
                        <a:rPr lang="en-IN" sz="1400" dirty="0"/>
                        <a:t>       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Discussed AI-enabled drones for waste monitoring and management applications. </a:t>
                      </a:r>
                      <a:endParaRPr lang="en-IN" sz="1400" dirty="0"/>
                    </a:p>
                    <a:p>
                      <a:pPr marL="0" lvl="0" algn="l">
                        <a:spcBef>
                          <a:spcPts val="0"/>
                        </a:spcBef>
                        <a:buNone/>
                      </a:pPr>
                      <a:endParaRPr lang="en-IN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79138905"/>
                  </a:ext>
                </a:extLst>
              </a:tr>
              <a:tr h="831858">
                <a:tc>
                  <a:txBody>
                    <a:bodyPr/>
                    <a:lstStyle/>
                    <a:p>
                      <a:r>
                        <a:rPr lang="en-IN" dirty="0"/>
                        <a:t> 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/>
                        <a:t>D.D. Sharma &amp; J. Lin</a:t>
                      </a:r>
                      <a:endParaRPr lang="en-IN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Secure Learning-Based Coordinated UAV–UGV Framework Design for Medical Waste Transportation</a:t>
                      </a:r>
                      <a:endParaRPr lang="en-IN" sz="1400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       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Proposed a coordinated UAV–UGV system for safe medical waste transportation.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3511938"/>
                  </a:ext>
                </a:extLst>
              </a:tr>
              <a:tr h="831858">
                <a:tc>
                  <a:txBody>
                    <a:bodyPr/>
                    <a:lstStyle/>
                    <a:p>
                      <a:r>
                        <a:rPr lang="en-IN" dirty="0"/>
                        <a:t> 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b="1" dirty="0"/>
                        <a:t>I. Munasinghe et al.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A Comprehensive Review of UAV–UGV Collaboration: Advancements and Challenges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       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Reviewed various UAV–UGV collaborative systems, their applications, advantages, and challenges in real-world environments.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4177494"/>
                  </a:ext>
                </a:extLst>
              </a:tr>
              <a:tr h="831858">
                <a:tc>
                  <a:txBody>
                    <a:bodyPr/>
                    <a:lstStyle/>
                    <a:p>
                      <a:r>
                        <a:rPr lang="en-IN" b="1" dirty="0"/>
                        <a:t>  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b="1" dirty="0"/>
                        <a:t>Z. Ren et al.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Review of UAV, UGV, and collaborative systems.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       2022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Integrated cleaning, storage, and waste disposal mechanisms.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36273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500512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545F880A-3CD6-7DAD-8EFB-997B6F6856BF}"/>
              </a:ext>
            </a:extLst>
          </p:cNvPr>
          <p:cNvGrpSpPr/>
          <p:nvPr/>
        </p:nvGrpSpPr>
        <p:grpSpPr>
          <a:xfrm>
            <a:off x="0" y="33184"/>
            <a:ext cx="12192000" cy="6824816"/>
            <a:chOff x="0" y="33184"/>
            <a:chExt cx="12192000" cy="5924190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BAA6FDA4-F4E1-E604-E567-3BBE59E44E16}"/>
                </a:ext>
              </a:extLst>
            </p:cNvPr>
            <p:cNvSpPr txBox="1"/>
            <p:nvPr/>
          </p:nvSpPr>
          <p:spPr>
            <a:xfrm>
              <a:off x="2167719" y="33184"/>
              <a:ext cx="7818825" cy="97513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1100" b="1" dirty="0">
                  <a:solidFill>
                    <a:srgbClr val="FF9900"/>
                  </a:solidFill>
                  <a:latin typeface="Bookman Old Style" panose="02050604050505020204" pitchFamily="18" charset="0"/>
                </a:rPr>
                <a:t>|| Jai Sri  Gurudev||</a:t>
              </a:r>
            </a:p>
            <a:p>
              <a:pPr algn="ctr"/>
              <a:r>
                <a:rPr lang="en-IN" b="1" dirty="0">
                  <a:latin typeface="Bookman Old Style" panose="02050604050505020204" pitchFamily="18" charset="0"/>
                </a:rPr>
                <a:t> </a:t>
              </a:r>
              <a:r>
                <a:rPr lang="en-IN" sz="2000" b="1" dirty="0">
                  <a:latin typeface="Bookman Old Style" panose="02050604050505020204" pitchFamily="18" charset="0"/>
                </a:rPr>
                <a:t>ADICHUNCHANAGIRI UNIVERSITY</a:t>
              </a:r>
            </a:p>
            <a:p>
              <a:pPr algn="ctr"/>
              <a:r>
                <a:rPr lang="en-IN" b="1" dirty="0">
                  <a:latin typeface="Bookman Old Style" panose="02050604050505020204" pitchFamily="18" charset="0"/>
                </a:rPr>
                <a:t> </a:t>
              </a:r>
              <a:r>
                <a:rPr lang="en-IN" b="1" dirty="0">
                  <a:solidFill>
                    <a:schemeClr val="accent1">
                      <a:lumMod val="20000"/>
                      <a:lumOff val="80000"/>
                    </a:schemeClr>
                  </a:solidFill>
                  <a:latin typeface="Bookman Old Style" panose="02050604050505020204" pitchFamily="18" charset="0"/>
                </a:rPr>
                <a:t>FACULTY OF ENGINEERING AND TECHNOLOGY</a:t>
              </a:r>
            </a:p>
            <a:p>
              <a:pPr algn="ctr"/>
              <a:r>
                <a:rPr lang="en-IN" b="1" dirty="0">
                  <a:solidFill>
                    <a:schemeClr val="accent1">
                      <a:lumMod val="20000"/>
                      <a:lumOff val="80000"/>
                    </a:schemeClr>
                  </a:solidFill>
                  <a:latin typeface="Bookman Old Style" panose="02050604050505020204" pitchFamily="18" charset="0"/>
                </a:rPr>
                <a:t>(BGS INSTITUTE OF TECHNOLOGY)</a:t>
              </a:r>
            </a:p>
          </p:txBody>
        </p: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00B9B29D-6F46-AA97-0775-7BCBE833A43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7926" y="166850"/>
              <a:ext cx="800731" cy="923330"/>
            </a:xfrm>
            <a:prstGeom prst="ellipse">
              <a:avLst/>
            </a:prstGeom>
            <a:ln w="63500" cap="rnd">
              <a:solidFill>
                <a:srgbClr val="333333"/>
              </a:solidFill>
            </a:ln>
            <a:effectLst>
              <a:outerShdw blurRad="381000" dist="292100" dir="5400000" sx="-80000" sy="-18000" rotWithShape="0">
                <a:srgbClr val="000000">
                  <a:alpha val="22000"/>
                </a:srgbClr>
              </a:outerShdw>
            </a:effectLst>
            <a:scene3d>
              <a:camera prst="orthographicFront"/>
              <a:lightRig rig="contrasting" dir="t">
                <a:rot lat="0" lon="0" rev="3000000"/>
              </a:lightRig>
            </a:scene3d>
            <a:sp3d contourW="7620">
              <a:bevelT w="95250" h="31750"/>
              <a:contourClr>
                <a:srgbClr val="333333"/>
              </a:contourClr>
            </a:sp3d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D2C6F730-C2BD-04DD-340F-FADBFC6273E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915591" y="166850"/>
              <a:ext cx="800219" cy="923330"/>
            </a:xfrm>
            <a:prstGeom prst="ellipse">
              <a:avLst/>
            </a:prstGeom>
            <a:ln w="63500" cap="rnd">
              <a:solidFill>
                <a:srgbClr val="333333"/>
              </a:solidFill>
            </a:ln>
            <a:effectLst>
              <a:outerShdw blurRad="381000" dist="292100" dir="5400000" sx="-80000" sy="-18000" rotWithShape="0">
                <a:srgbClr val="000000">
                  <a:alpha val="22000"/>
                </a:srgbClr>
              </a:outerShdw>
            </a:effectLst>
            <a:scene3d>
              <a:camera prst="orthographicFront"/>
              <a:lightRig rig="contrasting" dir="t">
                <a:rot lat="0" lon="0" rev="3000000"/>
              </a:lightRig>
            </a:scene3d>
            <a:sp3d contourW="7620">
              <a:bevelT w="95250" h="31750"/>
              <a:contourClr>
                <a:srgbClr val="333333"/>
              </a:contourClr>
            </a:sp3d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BE7367E6-CF98-F73A-2125-70F3759FC0B3}"/>
                </a:ext>
              </a:extLst>
            </p:cNvPr>
            <p:cNvSpPr txBox="1"/>
            <p:nvPr/>
          </p:nvSpPr>
          <p:spPr>
            <a:xfrm>
              <a:off x="2486518" y="961346"/>
              <a:ext cx="744855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1400" b="1" dirty="0">
                  <a:solidFill>
                    <a:schemeClr val="accent1">
                      <a:lumMod val="60000"/>
                      <a:lumOff val="40000"/>
                    </a:schemeClr>
                  </a:solidFill>
                  <a:latin typeface="Dubai" panose="020B0503030403030204" pitchFamily="34" charset="-78"/>
                  <a:cs typeface="Dubai" panose="020B0503030403030204" pitchFamily="34" charset="-78"/>
                </a:rPr>
                <a:t>BG Nagara, Nagamangala Taluk, Mandya District, Karnataka, India-571448</a:t>
              </a:r>
            </a:p>
            <a:p>
              <a:pPr algn="ctr"/>
              <a:r>
                <a:rPr lang="en-IN" sz="1400" b="1" dirty="0">
                  <a:solidFill>
                    <a:schemeClr val="accent1">
                      <a:lumMod val="60000"/>
                      <a:lumOff val="40000"/>
                    </a:schemeClr>
                  </a:solidFill>
                  <a:latin typeface="Dubai" panose="020B0503030403030204" pitchFamily="34" charset="-78"/>
                  <a:cs typeface="Dubai" panose="020B0503030403030204" pitchFamily="34" charset="-78"/>
                  <a:hlinkClick r:id="rId4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Tel: 08234-28841-419</a:t>
              </a:r>
              <a:r>
                <a:rPr lang="en-IN" sz="1400" b="1" dirty="0">
                  <a:solidFill>
                    <a:schemeClr val="accent1">
                      <a:lumMod val="60000"/>
                      <a:lumOff val="40000"/>
                    </a:schemeClr>
                  </a:solidFill>
                  <a:latin typeface="Dubai" panose="020B0503030403030204" pitchFamily="34" charset="-78"/>
                  <a:cs typeface="Dubai" panose="020B0503030403030204" pitchFamily="34" charset="-78"/>
                </a:rPr>
                <a:t>, Web: www.bgsit.ac.in</a:t>
              </a:r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EEDC2360-EF89-4426-4165-D1421416594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clrChange>
                <a:clrFrom>
                  <a:srgbClr val="FAE4EB"/>
                </a:clrFrom>
                <a:clrTo>
                  <a:srgbClr val="FAE4EB">
                    <a:alpha val="0"/>
                  </a:srgbClr>
                </a:clrTo>
              </a:clrChange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saturation sat="4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986543" y="820412"/>
              <a:ext cx="712029" cy="663482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BDF7EEA6-45B4-9AA5-62B9-4F8E7989221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19827" y="898545"/>
              <a:ext cx="615216" cy="607049"/>
            </a:xfrm>
            <a:prstGeom prst="rect">
              <a:avLst/>
            </a:prstGeom>
          </p:spPr>
        </p:pic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12095D9C-8432-7739-BF44-29E74186C2FA}"/>
                </a:ext>
              </a:extLst>
            </p:cNvPr>
            <p:cNvSpPr/>
            <p:nvPr/>
          </p:nvSpPr>
          <p:spPr>
            <a:xfrm>
              <a:off x="0" y="1505595"/>
              <a:ext cx="12192000" cy="4451779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sp>
        <p:nvSpPr>
          <p:cNvPr id="13" name="Google Shape;76;p15">
            <a:extLst>
              <a:ext uri="{FF2B5EF4-FFF2-40B4-BE49-F238E27FC236}">
                <a16:creationId xmlns:a16="http://schemas.microsoft.com/office/drawing/2014/main" id="{1840FC75-8358-822F-A3CF-EEF218ACECD4}"/>
              </a:ext>
            </a:extLst>
          </p:cNvPr>
          <p:cNvSpPr txBox="1"/>
          <p:nvPr/>
        </p:nvSpPr>
        <p:spPr>
          <a:xfrm>
            <a:off x="123084" y="1753664"/>
            <a:ext cx="4008701" cy="6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/>
            <a:r>
              <a:rPr lang="en-US" sz="3000" b="1" dirty="0">
                <a:solidFill>
                  <a:srgbClr val="002060"/>
                </a:solidFill>
                <a:latin typeface="Bookman Old Style" panose="02050604050505020204" pitchFamily="18" charset="0"/>
                <a:ea typeface="Georgia"/>
                <a:cs typeface="Dubai" panose="020B0503030403030204" pitchFamily="34" charset="-78"/>
                <a:sym typeface="Georgia"/>
              </a:rPr>
              <a:t>5. Objectives: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7C3B56C-A8ED-D02C-B31D-CFA77DFA8D06}"/>
              </a:ext>
            </a:extLst>
          </p:cNvPr>
          <p:cNvSpPr txBox="1"/>
          <p:nvPr/>
        </p:nvSpPr>
        <p:spPr>
          <a:xfrm>
            <a:off x="168280" y="1549354"/>
            <a:ext cx="11239619" cy="41697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endParaRPr lang="en-US" dirty="0">
              <a:solidFill>
                <a:schemeClr val="bg1"/>
              </a:solidFill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</a:endParaRPr>
          </a:p>
          <a:p>
            <a:pPr marL="285750" lvl="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To design and develop a hybrid robot capable of flying, driving, and vacuum-cleaning operations.</a:t>
            </a:r>
            <a:endParaRPr lang="en-IN" dirty="0">
              <a:solidFill>
                <a:schemeClr val="bg1"/>
              </a:solidFill>
            </a:endParaRPr>
          </a:p>
          <a:p>
            <a:pPr marL="285750" lvl="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To develop a waste collection mechanism for picking and disposing of dust and small waste particles efficiently.</a:t>
            </a:r>
            <a:endParaRPr lang="en-IN" dirty="0">
              <a:solidFill>
                <a:schemeClr val="bg1"/>
              </a:solidFill>
            </a:endParaRPr>
          </a:p>
          <a:p>
            <a:pPr marL="285750" lvl="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To design a lightweight and compact structure suitable for stable aerial and ground mobility.</a:t>
            </a:r>
            <a:endParaRPr lang="en-IN" dirty="0">
              <a:solidFill>
                <a:schemeClr val="bg1"/>
              </a:solidFill>
            </a:endParaRPr>
          </a:p>
          <a:p>
            <a:pPr marL="285750" lvl="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To enable remote-controlled operation for monitoring and controlling the vehicle from distant locations.</a:t>
            </a:r>
            <a:endParaRPr lang="en-IN" dirty="0">
              <a:solidFill>
                <a:schemeClr val="bg1"/>
              </a:solidFill>
            </a:endParaRPr>
          </a:p>
          <a:p>
            <a:pPr marL="285750" lvl="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To improve cleaning efficiency in hard-to-reach and hazardous environments using hybrid UAV–UGV technology.</a:t>
            </a:r>
            <a:endParaRPr lang="en-IN" dirty="0">
              <a:solidFill>
                <a:schemeClr val="bg1"/>
              </a:solidFill>
            </a:endParaRPr>
          </a:p>
          <a:p>
            <a:pPr marL="285750" lvl="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To reduce human effort and exposure during waste disposal.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9BEF00CD-53F1-6718-1662-D2F5545018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E5D90C-BE40-4037-AC5E-CD620FE48C47}" type="slidenum">
              <a:rPr lang="en-IN" smtClean="0"/>
              <a:t>7</a:t>
            </a:fld>
            <a:endParaRPr lang="en-IN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0969980D-9EBF-D67C-5F71-00FA784B903B}"/>
              </a:ext>
            </a:extLst>
          </p:cNvPr>
          <p:cNvSpPr/>
          <p:nvPr/>
        </p:nvSpPr>
        <p:spPr>
          <a:xfrm>
            <a:off x="11407899" y="6176865"/>
            <a:ext cx="615821" cy="577939"/>
          </a:xfrm>
          <a:prstGeom prst="ellipse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0540370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4856260C-B0F8-57B3-1951-2866CEE85725}"/>
              </a:ext>
            </a:extLst>
          </p:cNvPr>
          <p:cNvGrpSpPr/>
          <p:nvPr/>
        </p:nvGrpSpPr>
        <p:grpSpPr>
          <a:xfrm>
            <a:off x="0" y="33184"/>
            <a:ext cx="12192000" cy="6824816"/>
            <a:chOff x="0" y="33184"/>
            <a:chExt cx="12192000" cy="5924190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A3507F4C-55B1-844D-6B69-DFE404651EE6}"/>
                </a:ext>
              </a:extLst>
            </p:cNvPr>
            <p:cNvSpPr txBox="1"/>
            <p:nvPr/>
          </p:nvSpPr>
          <p:spPr>
            <a:xfrm>
              <a:off x="2167719" y="33184"/>
              <a:ext cx="7818825" cy="97513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1100" b="1" dirty="0">
                  <a:solidFill>
                    <a:srgbClr val="FF9900"/>
                  </a:solidFill>
                  <a:latin typeface="Bookman Old Style" panose="02050604050505020204" pitchFamily="18" charset="0"/>
                </a:rPr>
                <a:t>|| Jai Sri  Gurudev||</a:t>
              </a:r>
            </a:p>
            <a:p>
              <a:pPr algn="ctr"/>
              <a:r>
                <a:rPr lang="en-IN" b="1" dirty="0">
                  <a:latin typeface="Bookman Old Style" panose="02050604050505020204" pitchFamily="18" charset="0"/>
                </a:rPr>
                <a:t> </a:t>
              </a:r>
              <a:r>
                <a:rPr lang="en-IN" sz="2000" b="1" dirty="0">
                  <a:latin typeface="Bookman Old Style" panose="02050604050505020204" pitchFamily="18" charset="0"/>
                </a:rPr>
                <a:t>ADICHUNCHANAGIRI UNIVERSITY</a:t>
              </a:r>
            </a:p>
            <a:p>
              <a:pPr algn="ctr"/>
              <a:r>
                <a:rPr lang="en-IN" b="1" dirty="0">
                  <a:latin typeface="Bookman Old Style" panose="02050604050505020204" pitchFamily="18" charset="0"/>
                </a:rPr>
                <a:t> </a:t>
              </a:r>
              <a:r>
                <a:rPr lang="en-IN" b="1" dirty="0">
                  <a:solidFill>
                    <a:schemeClr val="accent1">
                      <a:lumMod val="20000"/>
                      <a:lumOff val="80000"/>
                    </a:schemeClr>
                  </a:solidFill>
                  <a:latin typeface="Bookman Old Style" panose="02050604050505020204" pitchFamily="18" charset="0"/>
                </a:rPr>
                <a:t>FACULTY OF ENGINEERING AND TECHNOLOGY</a:t>
              </a:r>
            </a:p>
            <a:p>
              <a:pPr algn="ctr"/>
              <a:r>
                <a:rPr lang="en-IN" b="1" dirty="0">
                  <a:solidFill>
                    <a:schemeClr val="accent1">
                      <a:lumMod val="20000"/>
                      <a:lumOff val="80000"/>
                    </a:schemeClr>
                  </a:solidFill>
                  <a:latin typeface="Bookman Old Style" panose="02050604050505020204" pitchFamily="18" charset="0"/>
                </a:rPr>
                <a:t>(BGS INSTITUTE OF TECHNOLOGY)</a:t>
              </a:r>
            </a:p>
          </p:txBody>
        </p: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4D1E25A7-3800-2980-0AFD-7EB3A9A49A8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7926" y="166850"/>
              <a:ext cx="800731" cy="923330"/>
            </a:xfrm>
            <a:prstGeom prst="ellipse">
              <a:avLst/>
            </a:prstGeom>
            <a:ln w="63500" cap="rnd">
              <a:solidFill>
                <a:srgbClr val="333333"/>
              </a:solidFill>
            </a:ln>
            <a:effectLst>
              <a:outerShdw blurRad="381000" dist="292100" dir="5400000" sx="-80000" sy="-18000" rotWithShape="0">
                <a:srgbClr val="000000">
                  <a:alpha val="22000"/>
                </a:srgbClr>
              </a:outerShdw>
            </a:effectLst>
            <a:scene3d>
              <a:camera prst="orthographicFront"/>
              <a:lightRig rig="contrasting" dir="t">
                <a:rot lat="0" lon="0" rev="3000000"/>
              </a:lightRig>
            </a:scene3d>
            <a:sp3d contourW="7620">
              <a:bevelT w="95250" h="31750"/>
              <a:contourClr>
                <a:srgbClr val="333333"/>
              </a:contourClr>
            </a:sp3d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44142866-2BD4-1200-2DC0-22CE163560A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915591" y="166850"/>
              <a:ext cx="800219" cy="923330"/>
            </a:xfrm>
            <a:prstGeom prst="ellipse">
              <a:avLst/>
            </a:prstGeom>
            <a:ln w="63500" cap="rnd">
              <a:solidFill>
                <a:srgbClr val="333333"/>
              </a:solidFill>
            </a:ln>
            <a:effectLst>
              <a:outerShdw blurRad="381000" dist="292100" dir="5400000" sx="-80000" sy="-18000" rotWithShape="0">
                <a:srgbClr val="000000">
                  <a:alpha val="22000"/>
                </a:srgbClr>
              </a:outerShdw>
            </a:effectLst>
            <a:scene3d>
              <a:camera prst="orthographicFront"/>
              <a:lightRig rig="contrasting" dir="t">
                <a:rot lat="0" lon="0" rev="3000000"/>
              </a:lightRig>
            </a:scene3d>
            <a:sp3d contourW="7620">
              <a:bevelT w="95250" h="31750"/>
              <a:contourClr>
                <a:srgbClr val="333333"/>
              </a:contourClr>
            </a:sp3d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E7FEF1D5-5CE1-D892-1DB1-3E63DF737F2A}"/>
                </a:ext>
              </a:extLst>
            </p:cNvPr>
            <p:cNvSpPr txBox="1"/>
            <p:nvPr/>
          </p:nvSpPr>
          <p:spPr>
            <a:xfrm>
              <a:off x="2486518" y="961346"/>
              <a:ext cx="744855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1400" b="1" dirty="0">
                  <a:solidFill>
                    <a:schemeClr val="accent1">
                      <a:lumMod val="60000"/>
                      <a:lumOff val="40000"/>
                    </a:schemeClr>
                  </a:solidFill>
                  <a:latin typeface="Dubai" panose="020B0503030403030204" pitchFamily="34" charset="-78"/>
                  <a:cs typeface="Dubai" panose="020B0503030403030204" pitchFamily="34" charset="-78"/>
                </a:rPr>
                <a:t>BG Nagara, Nagamangala Taluk, Mandya District, Karnataka, India-571448</a:t>
              </a:r>
            </a:p>
            <a:p>
              <a:pPr algn="ctr"/>
              <a:r>
                <a:rPr lang="en-IN" sz="1400" b="1" dirty="0">
                  <a:solidFill>
                    <a:schemeClr val="accent1">
                      <a:lumMod val="60000"/>
                      <a:lumOff val="40000"/>
                    </a:schemeClr>
                  </a:solidFill>
                  <a:latin typeface="Dubai" panose="020B0503030403030204" pitchFamily="34" charset="-78"/>
                  <a:cs typeface="Dubai" panose="020B0503030403030204" pitchFamily="34" charset="-78"/>
                  <a:hlinkClick r:id="rId4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Tel: 08234-28841-419</a:t>
              </a:r>
              <a:r>
                <a:rPr lang="en-IN" sz="1400" b="1" dirty="0">
                  <a:solidFill>
                    <a:schemeClr val="accent1">
                      <a:lumMod val="60000"/>
                      <a:lumOff val="40000"/>
                    </a:schemeClr>
                  </a:solidFill>
                  <a:latin typeface="Dubai" panose="020B0503030403030204" pitchFamily="34" charset="-78"/>
                  <a:cs typeface="Dubai" panose="020B0503030403030204" pitchFamily="34" charset="-78"/>
                </a:rPr>
                <a:t>, Web: www.bgsit.ac.in</a:t>
              </a:r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43F7E3B7-A3CC-DCD1-884E-242B6B8D28D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clrChange>
                <a:clrFrom>
                  <a:srgbClr val="FAE4EB"/>
                </a:clrFrom>
                <a:clrTo>
                  <a:srgbClr val="FAE4EB">
                    <a:alpha val="0"/>
                  </a:srgbClr>
                </a:clrTo>
              </a:clrChange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saturation sat="4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992569" y="796154"/>
              <a:ext cx="712029" cy="663482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8928564B-5F17-DB48-D240-242897BAB932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28815" y="786655"/>
              <a:ext cx="615216" cy="607049"/>
            </a:xfrm>
            <a:prstGeom prst="rect">
              <a:avLst/>
            </a:prstGeom>
          </p:spPr>
        </p:pic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0845FFBF-5199-ED7D-866D-E694B293A868}"/>
                </a:ext>
              </a:extLst>
            </p:cNvPr>
            <p:cNvSpPr/>
            <p:nvPr/>
          </p:nvSpPr>
          <p:spPr>
            <a:xfrm>
              <a:off x="0" y="1484566"/>
              <a:ext cx="12192000" cy="4472808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sp>
        <p:nvSpPr>
          <p:cNvPr id="12" name="Google Shape;76;p15">
            <a:extLst>
              <a:ext uri="{FF2B5EF4-FFF2-40B4-BE49-F238E27FC236}">
                <a16:creationId xmlns:a16="http://schemas.microsoft.com/office/drawing/2014/main" id="{72FFD15B-0B0B-C5AB-8D6D-A435E4F043E9}"/>
              </a:ext>
            </a:extLst>
          </p:cNvPr>
          <p:cNvSpPr txBox="1"/>
          <p:nvPr/>
        </p:nvSpPr>
        <p:spPr>
          <a:xfrm>
            <a:off x="144707" y="1759958"/>
            <a:ext cx="9232559" cy="6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/>
            <a:r>
              <a:rPr lang="en-US" sz="3000" b="1" dirty="0">
                <a:solidFill>
                  <a:srgbClr val="002060"/>
                </a:solidFill>
                <a:latin typeface="Bookman Old Style" panose="02050604050505020204" pitchFamily="18" charset="0"/>
                <a:ea typeface="Georgia"/>
                <a:cs typeface="Dubai" panose="020B0503030403030204" pitchFamily="34" charset="-78"/>
                <a:sym typeface="Georgia"/>
              </a:rPr>
              <a:t>6. Methodology: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7E5F521-6C26-8409-3779-D5B7663AD7D8}"/>
              </a:ext>
            </a:extLst>
          </p:cNvPr>
          <p:cNvSpPr txBox="1"/>
          <p:nvPr/>
        </p:nvSpPr>
        <p:spPr>
          <a:xfrm>
            <a:off x="286982" y="2468556"/>
            <a:ext cx="11736738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The system is designed as a hybrid cleaning robot that can move both on the ground and in the air. It combines drone-like multirotor propellers for flying and a wheeled rover mechanism for ground movement. vacuum unit with a brushless motor, filter, and dust bin is attached to the rover to collect dust and lightweight waste materials.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For control and navigation, the robot can easily switch between ground mode and flight mode using a mode management system, making sure the transition is safe. It is operated remotely using the MAV Link protocol, which allows the user to control the movement, vacuum, and flying path.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It is remotely controlled using a </a:t>
            </a:r>
            <a:r>
              <a:rPr lang="en-US" dirty="0" err="1">
                <a:solidFill>
                  <a:schemeClr val="bg1"/>
                </a:solidFill>
              </a:rPr>
              <a:t>FlySky</a:t>
            </a:r>
            <a:r>
              <a:rPr lang="en-US" dirty="0">
                <a:solidFill>
                  <a:schemeClr val="bg1"/>
                </a:solidFill>
              </a:rPr>
              <a:t> transmitter and Pixhawk flight controller, allowing the user to control movement, cleaning, and navigation.</a:t>
            </a:r>
          </a:p>
          <a:p>
            <a:pPr algn="just"/>
            <a:endParaRPr lang="en-US" dirty="0">
              <a:solidFill>
                <a:schemeClr val="bg1"/>
              </a:solidFill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Finally, for testing and evaluation, the prototype will be tested in areas with different levels and obstacles to check how well it works. 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4E944CBC-A817-60DB-5F96-51F04EB429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E5D90C-BE40-4037-AC5E-CD620FE48C47}" type="slidenum">
              <a:rPr lang="en-IN" smtClean="0"/>
              <a:t>8</a:t>
            </a:fld>
            <a:endParaRPr lang="en-IN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CC3F68BC-D129-7304-FF08-36D6E8B910C5}"/>
              </a:ext>
            </a:extLst>
          </p:cNvPr>
          <p:cNvSpPr/>
          <p:nvPr/>
        </p:nvSpPr>
        <p:spPr>
          <a:xfrm>
            <a:off x="11407899" y="6176865"/>
            <a:ext cx="615821" cy="577939"/>
          </a:xfrm>
          <a:prstGeom prst="ellipse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7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847252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1508BB-A59C-8B14-4D66-7506944F98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9646BF3E-2E3A-8488-0ACB-5E344D4B874C}"/>
              </a:ext>
            </a:extLst>
          </p:cNvPr>
          <p:cNvGrpSpPr/>
          <p:nvPr/>
        </p:nvGrpSpPr>
        <p:grpSpPr>
          <a:xfrm>
            <a:off x="0" y="33184"/>
            <a:ext cx="12192000" cy="6824817"/>
            <a:chOff x="0" y="33184"/>
            <a:chExt cx="12192000" cy="5924191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2E370F9E-A7C0-8EA8-BDDE-C04C91351697}"/>
                </a:ext>
              </a:extLst>
            </p:cNvPr>
            <p:cNvSpPr txBox="1"/>
            <p:nvPr/>
          </p:nvSpPr>
          <p:spPr>
            <a:xfrm>
              <a:off x="2167719" y="33184"/>
              <a:ext cx="7818825" cy="97513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1100" b="1" dirty="0">
                  <a:solidFill>
                    <a:srgbClr val="FF9900"/>
                  </a:solidFill>
                  <a:latin typeface="Bookman Old Style" panose="02050604050505020204" pitchFamily="18" charset="0"/>
                </a:rPr>
                <a:t>|| Jai Sri  Gurudev||</a:t>
              </a:r>
            </a:p>
            <a:p>
              <a:pPr algn="ctr"/>
              <a:r>
                <a:rPr lang="en-IN" b="1" dirty="0">
                  <a:latin typeface="Bookman Old Style" panose="02050604050505020204" pitchFamily="18" charset="0"/>
                </a:rPr>
                <a:t> </a:t>
              </a:r>
              <a:r>
                <a:rPr lang="en-IN" sz="2000" b="1" dirty="0">
                  <a:latin typeface="Bookman Old Style" panose="02050604050505020204" pitchFamily="18" charset="0"/>
                </a:rPr>
                <a:t>ADICHUNCHANAGIRI UNIVERSITY</a:t>
              </a:r>
            </a:p>
            <a:p>
              <a:pPr algn="ctr"/>
              <a:r>
                <a:rPr lang="en-IN" b="1" dirty="0">
                  <a:latin typeface="Bookman Old Style" panose="02050604050505020204" pitchFamily="18" charset="0"/>
                </a:rPr>
                <a:t> </a:t>
              </a:r>
              <a:r>
                <a:rPr lang="en-IN" b="1" dirty="0">
                  <a:solidFill>
                    <a:schemeClr val="accent1">
                      <a:lumMod val="20000"/>
                      <a:lumOff val="80000"/>
                    </a:schemeClr>
                  </a:solidFill>
                  <a:latin typeface="Bookman Old Style" panose="02050604050505020204" pitchFamily="18" charset="0"/>
                </a:rPr>
                <a:t>FACULTY OF ENGINEERING AND TECHNOLOGY</a:t>
              </a:r>
            </a:p>
            <a:p>
              <a:pPr algn="ctr"/>
              <a:r>
                <a:rPr lang="en-IN" b="1" dirty="0">
                  <a:solidFill>
                    <a:schemeClr val="accent1">
                      <a:lumMod val="20000"/>
                      <a:lumOff val="80000"/>
                    </a:schemeClr>
                  </a:solidFill>
                  <a:latin typeface="Bookman Old Style" panose="02050604050505020204" pitchFamily="18" charset="0"/>
                </a:rPr>
                <a:t>(BGS INSTITUTE OF TECHNOLOGY)</a:t>
              </a:r>
            </a:p>
          </p:txBody>
        </p: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04B442B2-4123-8971-463E-4195382155F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7926" y="166850"/>
              <a:ext cx="800731" cy="923330"/>
            </a:xfrm>
            <a:prstGeom prst="ellipse">
              <a:avLst/>
            </a:prstGeom>
            <a:ln w="63500" cap="rnd">
              <a:solidFill>
                <a:srgbClr val="333333"/>
              </a:solidFill>
            </a:ln>
            <a:effectLst>
              <a:outerShdw blurRad="381000" dist="292100" dir="5400000" sx="-80000" sy="-18000" rotWithShape="0">
                <a:srgbClr val="000000">
                  <a:alpha val="22000"/>
                </a:srgbClr>
              </a:outerShdw>
            </a:effectLst>
            <a:scene3d>
              <a:camera prst="orthographicFront"/>
              <a:lightRig rig="contrasting" dir="t">
                <a:rot lat="0" lon="0" rev="3000000"/>
              </a:lightRig>
            </a:scene3d>
            <a:sp3d contourW="7620">
              <a:bevelT w="95250" h="31750"/>
              <a:contourClr>
                <a:srgbClr val="333333"/>
              </a:contourClr>
            </a:sp3d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F0839C45-7743-7009-EDE0-2F1624D9658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915591" y="166850"/>
              <a:ext cx="800219" cy="923330"/>
            </a:xfrm>
            <a:prstGeom prst="ellipse">
              <a:avLst/>
            </a:prstGeom>
            <a:ln w="63500" cap="rnd">
              <a:solidFill>
                <a:srgbClr val="333333"/>
              </a:solidFill>
            </a:ln>
            <a:effectLst>
              <a:outerShdw blurRad="381000" dist="292100" dir="5400000" sx="-80000" sy="-18000" rotWithShape="0">
                <a:srgbClr val="000000">
                  <a:alpha val="22000"/>
                </a:srgbClr>
              </a:outerShdw>
            </a:effectLst>
            <a:scene3d>
              <a:camera prst="orthographicFront"/>
              <a:lightRig rig="contrasting" dir="t">
                <a:rot lat="0" lon="0" rev="3000000"/>
              </a:lightRig>
            </a:scene3d>
            <a:sp3d contourW="7620">
              <a:bevelT w="95250" h="31750"/>
              <a:contourClr>
                <a:srgbClr val="333333"/>
              </a:contourClr>
            </a:sp3d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99C0D270-5450-15D3-78B0-6DE99842FB38}"/>
                </a:ext>
              </a:extLst>
            </p:cNvPr>
            <p:cNvSpPr txBox="1"/>
            <p:nvPr/>
          </p:nvSpPr>
          <p:spPr>
            <a:xfrm>
              <a:off x="2486518" y="940459"/>
              <a:ext cx="744855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1400" b="1" dirty="0">
                  <a:solidFill>
                    <a:schemeClr val="accent1">
                      <a:lumMod val="60000"/>
                      <a:lumOff val="40000"/>
                    </a:schemeClr>
                  </a:solidFill>
                  <a:latin typeface="Dubai" panose="020B0503030403030204" pitchFamily="34" charset="-78"/>
                  <a:cs typeface="Dubai" panose="020B0503030403030204" pitchFamily="34" charset="-78"/>
                </a:rPr>
                <a:t>BG Nagara, Nagamangala Taluk, Mandya District, Karnataka, India-571448</a:t>
              </a:r>
            </a:p>
            <a:p>
              <a:pPr algn="ctr"/>
              <a:r>
                <a:rPr lang="en-IN" sz="1400" b="1" dirty="0">
                  <a:solidFill>
                    <a:schemeClr val="accent1">
                      <a:lumMod val="60000"/>
                      <a:lumOff val="40000"/>
                    </a:schemeClr>
                  </a:solidFill>
                  <a:latin typeface="Dubai" panose="020B0503030403030204" pitchFamily="34" charset="-78"/>
                  <a:cs typeface="Dubai" panose="020B0503030403030204" pitchFamily="34" charset="-78"/>
                  <a:hlinkClick r:id="rId4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Tel: 08234-28841-419</a:t>
              </a:r>
              <a:r>
                <a:rPr lang="en-IN" sz="1400" b="1" dirty="0">
                  <a:solidFill>
                    <a:schemeClr val="accent1">
                      <a:lumMod val="60000"/>
                      <a:lumOff val="40000"/>
                    </a:schemeClr>
                  </a:solidFill>
                  <a:latin typeface="Dubai" panose="020B0503030403030204" pitchFamily="34" charset="-78"/>
                  <a:cs typeface="Dubai" panose="020B0503030403030204" pitchFamily="34" charset="-78"/>
                </a:rPr>
                <a:t>, Web: www.bgsit.ac.in</a:t>
              </a:r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02E0C696-A4DC-5D28-27CF-56462B4E101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clrChange>
                <a:clrFrom>
                  <a:srgbClr val="FAE4EB"/>
                </a:clrFrom>
                <a:clrTo>
                  <a:srgbClr val="FAE4EB">
                    <a:alpha val="0"/>
                  </a:srgbClr>
                </a:clrTo>
              </a:clrChange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saturation sat="4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977555" y="800146"/>
              <a:ext cx="712029" cy="663482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E3CAC400-2941-1741-CCE6-111CC3BC8F71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28815" y="853044"/>
              <a:ext cx="615216" cy="607049"/>
            </a:xfrm>
            <a:prstGeom prst="rect">
              <a:avLst/>
            </a:prstGeom>
          </p:spPr>
        </p:pic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1343C3BC-2952-D612-6FAE-22D3E842CCED}"/>
                </a:ext>
              </a:extLst>
            </p:cNvPr>
            <p:cNvSpPr/>
            <p:nvPr/>
          </p:nvSpPr>
          <p:spPr>
            <a:xfrm>
              <a:off x="0" y="1535150"/>
              <a:ext cx="12192000" cy="4422225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b</a:t>
              </a:r>
              <a:endParaRPr lang="en-IN" dirty="0"/>
            </a:p>
          </p:txBody>
        </p:sp>
      </p:grpSp>
      <p:sp>
        <p:nvSpPr>
          <p:cNvPr id="12" name="Google Shape;76;p15">
            <a:extLst>
              <a:ext uri="{FF2B5EF4-FFF2-40B4-BE49-F238E27FC236}">
                <a16:creationId xmlns:a16="http://schemas.microsoft.com/office/drawing/2014/main" id="{B3579C17-02FE-02B2-208A-8F3E9B46A476}"/>
              </a:ext>
            </a:extLst>
          </p:cNvPr>
          <p:cNvSpPr txBox="1"/>
          <p:nvPr/>
        </p:nvSpPr>
        <p:spPr>
          <a:xfrm>
            <a:off x="163368" y="1790005"/>
            <a:ext cx="10526216" cy="50782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/>
            <a:r>
              <a:rPr lang="en-US" sz="3000" b="1" dirty="0">
                <a:solidFill>
                  <a:srgbClr val="002060"/>
                </a:solidFill>
                <a:latin typeface="Bookman Old Style" panose="02050604050505020204" pitchFamily="18" charset="0"/>
                <a:ea typeface="Georgia"/>
                <a:cs typeface="Dubai" panose="020B0503030403030204" pitchFamily="34" charset="-78"/>
                <a:sym typeface="Georgia"/>
              </a:rPr>
              <a:t>7. Block Diagram:</a:t>
            </a:r>
          </a:p>
          <a:p>
            <a:pPr lvl="0"/>
            <a:endParaRPr lang="en-US" sz="3000" b="1" dirty="0">
              <a:solidFill>
                <a:srgbClr val="002060"/>
              </a:solidFill>
              <a:latin typeface="Bookman Old Style" panose="02050604050505020204" pitchFamily="18" charset="0"/>
              <a:ea typeface="Georgia"/>
              <a:cs typeface="Dubai" panose="020B0503030403030204" pitchFamily="34" charset="-78"/>
              <a:sym typeface="Georgia"/>
            </a:endParaRPr>
          </a:p>
          <a:p>
            <a:pPr lvl="0"/>
            <a:endParaRPr lang="en-US" sz="3000" b="1" dirty="0">
              <a:solidFill>
                <a:srgbClr val="002060"/>
              </a:solidFill>
              <a:latin typeface="Bookman Old Style" panose="02050604050505020204" pitchFamily="18" charset="0"/>
              <a:ea typeface="Georgia"/>
              <a:cs typeface="Dubai" panose="020B0503030403030204" pitchFamily="34" charset="-78"/>
              <a:sym typeface="Georgia"/>
            </a:endParaRPr>
          </a:p>
          <a:p>
            <a:pPr lvl="0"/>
            <a:endParaRPr lang="en-US" sz="3000" b="1" dirty="0">
              <a:solidFill>
                <a:srgbClr val="002060"/>
              </a:solidFill>
              <a:latin typeface="Bookman Old Style" panose="02050604050505020204" pitchFamily="18" charset="0"/>
              <a:ea typeface="Georgia"/>
              <a:cs typeface="Dubai" panose="020B0503030403030204" pitchFamily="34" charset="-78"/>
              <a:sym typeface="Georgia"/>
            </a:endParaRPr>
          </a:p>
          <a:p>
            <a:pPr lvl="0"/>
            <a:endParaRPr lang="en-US" sz="3000" b="1" dirty="0">
              <a:solidFill>
                <a:srgbClr val="002060"/>
              </a:solidFill>
              <a:latin typeface="Bookman Old Style" panose="02050604050505020204" pitchFamily="18" charset="0"/>
              <a:ea typeface="Georgia"/>
              <a:cs typeface="Dubai" panose="020B0503030403030204" pitchFamily="34" charset="-78"/>
              <a:sym typeface="Georgia"/>
            </a:endParaRPr>
          </a:p>
          <a:p>
            <a:pPr lvl="0"/>
            <a:endParaRPr lang="en-US" sz="3000" b="1" dirty="0">
              <a:solidFill>
                <a:srgbClr val="002060"/>
              </a:solidFill>
              <a:latin typeface="Bookman Old Style" panose="02050604050505020204" pitchFamily="18" charset="0"/>
              <a:ea typeface="Georgia"/>
              <a:cs typeface="Dubai" panose="020B0503030403030204" pitchFamily="34" charset="-78"/>
              <a:sym typeface="Georgia"/>
            </a:endParaRPr>
          </a:p>
          <a:p>
            <a:pPr lvl="0"/>
            <a:endParaRPr lang="en-US" sz="3000" b="1" dirty="0">
              <a:solidFill>
                <a:srgbClr val="002060"/>
              </a:solidFill>
              <a:latin typeface="Bookman Old Style" panose="02050604050505020204" pitchFamily="18" charset="0"/>
              <a:ea typeface="Georgia"/>
              <a:cs typeface="Dubai" panose="020B0503030403030204" pitchFamily="34" charset="-78"/>
              <a:sym typeface="Georgia"/>
            </a:endParaRPr>
          </a:p>
          <a:p>
            <a:pPr lvl="0"/>
            <a:endParaRPr lang="en-US" sz="3000" b="1" dirty="0">
              <a:solidFill>
                <a:srgbClr val="002060"/>
              </a:solidFill>
              <a:latin typeface="Bookman Old Style" panose="02050604050505020204" pitchFamily="18" charset="0"/>
              <a:ea typeface="Georgia"/>
              <a:cs typeface="Dubai" panose="020B0503030403030204" pitchFamily="34" charset="-78"/>
              <a:sym typeface="Georgia"/>
            </a:endParaRPr>
          </a:p>
          <a:p>
            <a:pPr lvl="0"/>
            <a:endParaRPr lang="en-US" sz="3000" b="1" dirty="0">
              <a:solidFill>
                <a:srgbClr val="002060"/>
              </a:solidFill>
              <a:latin typeface="Bookman Old Style" panose="02050604050505020204" pitchFamily="18" charset="0"/>
              <a:ea typeface="Georgia"/>
              <a:cs typeface="Dubai" panose="020B0503030403030204" pitchFamily="34" charset="-78"/>
              <a:sym typeface="Georgia"/>
            </a:endParaRPr>
          </a:p>
          <a:p>
            <a:pPr lvl="0"/>
            <a:r>
              <a:rPr lang="en-US" sz="3000" b="1" dirty="0">
                <a:solidFill>
                  <a:srgbClr val="002060"/>
                </a:solidFill>
                <a:latin typeface="Bookman Old Style" panose="02050604050505020204" pitchFamily="18" charset="0"/>
                <a:ea typeface="Georgia"/>
                <a:cs typeface="Dubai" panose="020B0503030403030204" pitchFamily="34" charset="-78"/>
                <a:sym typeface="Georgia"/>
              </a:rPr>
              <a:t>     </a:t>
            </a:r>
          </a:p>
          <a:p>
            <a:pPr lvl="0"/>
            <a:r>
              <a:rPr lang="en-US" dirty="0">
                <a:solidFill>
                  <a:srgbClr val="002060"/>
                </a:solidFill>
                <a:ea typeface="Georgia"/>
                <a:cs typeface="Dubai" panose="020B0503030403030204" pitchFamily="34" charset="-78"/>
                <a:sym typeface="Georgia"/>
              </a:rPr>
              <a:t>                                                      Figure 1: Block Diagram of remote controlled UGAV for waste disposal.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0653D60E-BDEC-63CD-DF45-A3B31D0066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E5D90C-BE40-4037-AC5E-CD620FE48C47}" type="slidenum">
              <a:rPr lang="en-IN" smtClean="0"/>
              <a:t>9</a:t>
            </a:fld>
            <a:endParaRPr lang="en-IN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59DDCB29-6CDE-EC01-2D00-2631C10A3E41}"/>
              </a:ext>
            </a:extLst>
          </p:cNvPr>
          <p:cNvSpPr/>
          <p:nvPr/>
        </p:nvSpPr>
        <p:spPr>
          <a:xfrm>
            <a:off x="11407899" y="6176865"/>
            <a:ext cx="615821" cy="577939"/>
          </a:xfrm>
          <a:prstGeom prst="ellipse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8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879566B-8309-7D1F-1BF7-0149843F4F8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52337" y="2415732"/>
            <a:ext cx="9037247" cy="39921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21486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E2CF6D-B712-F791-EAAE-B51F0D8300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F3252122-0E6A-2BB0-B6A0-857B278A5BB5}"/>
              </a:ext>
            </a:extLst>
          </p:cNvPr>
          <p:cNvGrpSpPr/>
          <p:nvPr/>
        </p:nvGrpSpPr>
        <p:grpSpPr>
          <a:xfrm>
            <a:off x="0" y="33184"/>
            <a:ext cx="12192000" cy="6824816"/>
            <a:chOff x="0" y="33184"/>
            <a:chExt cx="12192000" cy="5924190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DA315D82-C1B0-E42C-F6C4-F58FD1A0AA04}"/>
                </a:ext>
              </a:extLst>
            </p:cNvPr>
            <p:cNvSpPr txBox="1"/>
            <p:nvPr/>
          </p:nvSpPr>
          <p:spPr>
            <a:xfrm>
              <a:off x="2167719" y="33184"/>
              <a:ext cx="7818825" cy="97513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1100" b="1" dirty="0">
                  <a:solidFill>
                    <a:srgbClr val="FF9900"/>
                  </a:solidFill>
                  <a:latin typeface="Bookman Old Style" panose="02050604050505020204" pitchFamily="18" charset="0"/>
                </a:rPr>
                <a:t>|| Jai Sri  Gurudev||</a:t>
              </a:r>
            </a:p>
            <a:p>
              <a:pPr algn="ctr"/>
              <a:r>
                <a:rPr lang="en-IN" b="1" dirty="0">
                  <a:latin typeface="Bookman Old Style" panose="02050604050505020204" pitchFamily="18" charset="0"/>
                </a:rPr>
                <a:t> </a:t>
              </a:r>
              <a:r>
                <a:rPr lang="en-IN" sz="2000" b="1" dirty="0">
                  <a:latin typeface="Bookman Old Style" panose="02050604050505020204" pitchFamily="18" charset="0"/>
                </a:rPr>
                <a:t>ADICHUNCHANAGIRI UNIVERSITY</a:t>
              </a:r>
            </a:p>
            <a:p>
              <a:pPr algn="ctr"/>
              <a:r>
                <a:rPr lang="en-IN" b="1" dirty="0">
                  <a:latin typeface="Bookman Old Style" panose="02050604050505020204" pitchFamily="18" charset="0"/>
                </a:rPr>
                <a:t> </a:t>
              </a:r>
              <a:r>
                <a:rPr lang="en-IN" b="1" dirty="0">
                  <a:solidFill>
                    <a:schemeClr val="accent1">
                      <a:lumMod val="20000"/>
                      <a:lumOff val="80000"/>
                    </a:schemeClr>
                  </a:solidFill>
                  <a:latin typeface="Bookman Old Style" panose="02050604050505020204" pitchFamily="18" charset="0"/>
                </a:rPr>
                <a:t>FACULTY OF ENGINEERING AND TECHNOLOGY</a:t>
              </a:r>
            </a:p>
            <a:p>
              <a:pPr algn="ctr"/>
              <a:r>
                <a:rPr lang="en-IN" b="1" dirty="0">
                  <a:solidFill>
                    <a:schemeClr val="accent1">
                      <a:lumMod val="20000"/>
                      <a:lumOff val="80000"/>
                    </a:schemeClr>
                  </a:solidFill>
                  <a:latin typeface="Bookman Old Style" panose="02050604050505020204" pitchFamily="18" charset="0"/>
                </a:rPr>
                <a:t>(BGS INSTITUTE OF TECHNOLOGY)</a:t>
              </a:r>
            </a:p>
          </p:txBody>
        </p: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E60AD060-CDF2-65E0-5080-5B5CE903C3D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7926" y="166850"/>
              <a:ext cx="800731" cy="923330"/>
            </a:xfrm>
            <a:prstGeom prst="ellipse">
              <a:avLst/>
            </a:prstGeom>
            <a:ln w="63500" cap="rnd">
              <a:solidFill>
                <a:srgbClr val="333333"/>
              </a:solidFill>
            </a:ln>
            <a:effectLst>
              <a:outerShdw blurRad="381000" dist="292100" dir="5400000" sx="-80000" sy="-18000" rotWithShape="0">
                <a:srgbClr val="000000">
                  <a:alpha val="22000"/>
                </a:srgbClr>
              </a:outerShdw>
            </a:effectLst>
            <a:scene3d>
              <a:camera prst="orthographicFront"/>
              <a:lightRig rig="contrasting" dir="t">
                <a:rot lat="0" lon="0" rev="3000000"/>
              </a:lightRig>
            </a:scene3d>
            <a:sp3d contourW="7620">
              <a:bevelT w="95250" h="31750"/>
              <a:contourClr>
                <a:srgbClr val="333333"/>
              </a:contourClr>
            </a:sp3d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9BA58A2E-B137-AE51-BDD7-BF0B37DA147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915591" y="166850"/>
              <a:ext cx="800219" cy="923330"/>
            </a:xfrm>
            <a:prstGeom prst="ellipse">
              <a:avLst/>
            </a:prstGeom>
            <a:ln w="63500" cap="rnd">
              <a:solidFill>
                <a:srgbClr val="333333"/>
              </a:solidFill>
            </a:ln>
            <a:effectLst>
              <a:outerShdw blurRad="381000" dist="292100" dir="5400000" sx="-80000" sy="-18000" rotWithShape="0">
                <a:srgbClr val="000000">
                  <a:alpha val="22000"/>
                </a:srgbClr>
              </a:outerShdw>
            </a:effectLst>
            <a:scene3d>
              <a:camera prst="orthographicFront"/>
              <a:lightRig rig="contrasting" dir="t">
                <a:rot lat="0" lon="0" rev="3000000"/>
              </a:lightRig>
            </a:scene3d>
            <a:sp3d contourW="7620">
              <a:bevelT w="95250" h="31750"/>
              <a:contourClr>
                <a:srgbClr val="333333"/>
              </a:contourClr>
            </a:sp3d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072638A3-083A-4C5B-B7BD-3FB738DA056A}"/>
                </a:ext>
              </a:extLst>
            </p:cNvPr>
            <p:cNvSpPr txBox="1"/>
            <p:nvPr/>
          </p:nvSpPr>
          <p:spPr>
            <a:xfrm>
              <a:off x="2486518" y="1016282"/>
              <a:ext cx="744855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1400" b="1" dirty="0">
                  <a:solidFill>
                    <a:schemeClr val="accent1">
                      <a:lumMod val="60000"/>
                      <a:lumOff val="40000"/>
                    </a:schemeClr>
                  </a:solidFill>
                  <a:latin typeface="Dubai" panose="020B0503030403030204" pitchFamily="34" charset="-78"/>
                  <a:cs typeface="Dubai" panose="020B0503030403030204" pitchFamily="34" charset="-78"/>
                </a:rPr>
                <a:t>BG Nagara, Nagamangala Taluk, Mandya District, Karnataka, India-571448</a:t>
              </a:r>
            </a:p>
            <a:p>
              <a:pPr algn="ctr"/>
              <a:r>
                <a:rPr lang="en-IN" sz="1400" b="1" dirty="0">
                  <a:solidFill>
                    <a:schemeClr val="accent1">
                      <a:lumMod val="60000"/>
                      <a:lumOff val="40000"/>
                    </a:schemeClr>
                  </a:solidFill>
                  <a:latin typeface="Dubai" panose="020B0503030403030204" pitchFamily="34" charset="-78"/>
                  <a:cs typeface="Dubai" panose="020B0503030403030204" pitchFamily="34" charset="-78"/>
                  <a:hlinkClick r:id="rId5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Tel: 08234-28841-419</a:t>
              </a:r>
              <a:r>
                <a:rPr lang="en-IN" sz="1400" b="1" dirty="0">
                  <a:solidFill>
                    <a:schemeClr val="accent1">
                      <a:lumMod val="60000"/>
                      <a:lumOff val="40000"/>
                    </a:schemeClr>
                  </a:solidFill>
                  <a:latin typeface="Dubai" panose="020B0503030403030204" pitchFamily="34" charset="-78"/>
                  <a:cs typeface="Dubai" panose="020B0503030403030204" pitchFamily="34" charset="-78"/>
                </a:rPr>
                <a:t>, Web: www.bgsit.ac.in</a:t>
              </a:r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36713D92-FFA7-9E43-3B0A-D53B7588AAA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clrChange>
                <a:clrFrom>
                  <a:srgbClr val="FAE4EB"/>
                </a:clrFrom>
                <a:clrTo>
                  <a:srgbClr val="FAE4EB">
                    <a:alpha val="0"/>
                  </a:srgbClr>
                </a:clrTo>
              </a:clrChange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saturation sat="4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986543" y="842113"/>
              <a:ext cx="712029" cy="663482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6CCE27D7-5094-8028-C640-BE6CA2E9F8E1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19827" y="898545"/>
              <a:ext cx="615216" cy="607049"/>
            </a:xfrm>
            <a:prstGeom prst="rect">
              <a:avLst/>
            </a:prstGeom>
          </p:spPr>
        </p:pic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B361F83A-9ECD-1287-7017-23F6C28BB032}"/>
                </a:ext>
              </a:extLst>
            </p:cNvPr>
            <p:cNvSpPr/>
            <p:nvPr/>
          </p:nvSpPr>
          <p:spPr>
            <a:xfrm>
              <a:off x="0" y="1539503"/>
              <a:ext cx="12192000" cy="4417871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sp>
        <p:nvSpPr>
          <p:cNvPr id="12" name="Google Shape;76;p15">
            <a:extLst>
              <a:ext uri="{FF2B5EF4-FFF2-40B4-BE49-F238E27FC236}">
                <a16:creationId xmlns:a16="http://schemas.microsoft.com/office/drawing/2014/main" id="{A04C5737-A274-E9E3-2AA5-28B6A7F75598}"/>
              </a:ext>
            </a:extLst>
          </p:cNvPr>
          <p:cNvSpPr txBox="1"/>
          <p:nvPr/>
        </p:nvSpPr>
        <p:spPr>
          <a:xfrm>
            <a:off x="163368" y="1858814"/>
            <a:ext cx="9232559" cy="6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/>
            <a:r>
              <a:rPr lang="en-US" sz="3000" b="1" dirty="0">
                <a:solidFill>
                  <a:srgbClr val="002060"/>
                </a:solidFill>
                <a:latin typeface="Bookman Old Style" panose="02050604050505020204" pitchFamily="18" charset="0"/>
                <a:ea typeface="Georgia"/>
                <a:cs typeface="Dubai" panose="020B0503030403030204" pitchFamily="34" charset="-78"/>
                <a:sym typeface="Georgia"/>
              </a:rPr>
              <a:t>8.Flow Chart: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E93204B-B2C1-38C5-7466-8694CF6428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E5D90C-BE40-4037-AC5E-CD620FE48C47}" type="slidenum">
              <a:rPr lang="en-IN" smtClean="0"/>
              <a:t>10</a:t>
            </a:fld>
            <a:endParaRPr lang="en-IN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B4D01A72-C4A3-37E8-8C3E-1E26F29A65AD}"/>
              </a:ext>
            </a:extLst>
          </p:cNvPr>
          <p:cNvSpPr/>
          <p:nvPr/>
        </p:nvSpPr>
        <p:spPr>
          <a:xfrm>
            <a:off x="11407899" y="6176865"/>
            <a:ext cx="615821" cy="577939"/>
          </a:xfrm>
          <a:prstGeom prst="ellipse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9</a:t>
            </a:r>
            <a:endParaRPr lang="en-IN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311CFDB-0A8B-2A0D-3AA9-66A20EF94FF9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3631" y="1858813"/>
            <a:ext cx="7088569" cy="4862662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CDD58477-766C-6F95-99B6-2BCCB595CC5F}"/>
              </a:ext>
            </a:extLst>
          </p:cNvPr>
          <p:cNvSpPr txBox="1"/>
          <p:nvPr/>
        </p:nvSpPr>
        <p:spPr>
          <a:xfrm>
            <a:off x="5647764" y="2978523"/>
            <a:ext cx="914400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F990FAF-48D5-E563-BB8B-9B66DB59AFD4}"/>
              </a:ext>
            </a:extLst>
          </p:cNvPr>
          <p:cNvSpPr txBox="1"/>
          <p:nvPr/>
        </p:nvSpPr>
        <p:spPr>
          <a:xfrm>
            <a:off x="2888093" y="6465834"/>
            <a:ext cx="83515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Figure 2:Flow Chart of Remote Controlled UGAV for Waste Disposal</a:t>
            </a:r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900051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7FBDCD3F-329D-F71F-95F1-AC64DC062659}"/>
              </a:ext>
            </a:extLst>
          </p:cNvPr>
          <p:cNvGrpSpPr/>
          <p:nvPr/>
        </p:nvGrpSpPr>
        <p:grpSpPr>
          <a:xfrm>
            <a:off x="0" y="33184"/>
            <a:ext cx="12192000" cy="6824816"/>
            <a:chOff x="0" y="33184"/>
            <a:chExt cx="12192000" cy="5924190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CB0A6D36-A038-2DBC-E7E5-870C6AC2C5C3}"/>
                </a:ext>
              </a:extLst>
            </p:cNvPr>
            <p:cNvSpPr txBox="1"/>
            <p:nvPr/>
          </p:nvSpPr>
          <p:spPr>
            <a:xfrm>
              <a:off x="2167719" y="33184"/>
              <a:ext cx="7818825" cy="97513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1100" b="1" dirty="0">
                  <a:solidFill>
                    <a:srgbClr val="FF9900"/>
                  </a:solidFill>
                  <a:latin typeface="Bookman Old Style" panose="02050604050505020204" pitchFamily="18" charset="0"/>
                </a:rPr>
                <a:t>|| Jai Sri  Gurudev||</a:t>
              </a:r>
            </a:p>
            <a:p>
              <a:pPr algn="ctr"/>
              <a:r>
                <a:rPr lang="en-IN" b="1" dirty="0">
                  <a:latin typeface="Bookman Old Style" panose="02050604050505020204" pitchFamily="18" charset="0"/>
                </a:rPr>
                <a:t> </a:t>
              </a:r>
              <a:r>
                <a:rPr lang="en-IN" sz="2000" b="1" dirty="0">
                  <a:latin typeface="Bookman Old Style" panose="02050604050505020204" pitchFamily="18" charset="0"/>
                </a:rPr>
                <a:t>ADICHUNCHANAGIRI UNIVERSITY</a:t>
              </a:r>
            </a:p>
            <a:p>
              <a:pPr algn="ctr"/>
              <a:r>
                <a:rPr lang="en-IN" b="1" dirty="0">
                  <a:latin typeface="Bookman Old Style" panose="02050604050505020204" pitchFamily="18" charset="0"/>
                </a:rPr>
                <a:t> </a:t>
              </a:r>
              <a:r>
                <a:rPr lang="en-IN" b="1" dirty="0">
                  <a:solidFill>
                    <a:schemeClr val="accent1">
                      <a:lumMod val="20000"/>
                      <a:lumOff val="80000"/>
                    </a:schemeClr>
                  </a:solidFill>
                  <a:latin typeface="Bookman Old Style" panose="02050604050505020204" pitchFamily="18" charset="0"/>
                </a:rPr>
                <a:t>FACULTY OF ENGINEERING AND TECHNOLOGY</a:t>
              </a:r>
            </a:p>
            <a:p>
              <a:pPr algn="ctr"/>
              <a:r>
                <a:rPr lang="en-IN" b="1" dirty="0">
                  <a:solidFill>
                    <a:schemeClr val="accent1">
                      <a:lumMod val="20000"/>
                      <a:lumOff val="80000"/>
                    </a:schemeClr>
                  </a:solidFill>
                  <a:latin typeface="Bookman Old Style" panose="02050604050505020204" pitchFamily="18" charset="0"/>
                </a:rPr>
                <a:t>(BGS INSTITUTE OF TECHNOLOGY)</a:t>
              </a:r>
            </a:p>
          </p:txBody>
        </p: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298BA919-5263-2B76-4292-79B8613E683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7926" y="166850"/>
              <a:ext cx="800731" cy="923330"/>
            </a:xfrm>
            <a:prstGeom prst="ellipse">
              <a:avLst/>
            </a:prstGeom>
            <a:ln w="63500" cap="rnd">
              <a:solidFill>
                <a:srgbClr val="333333"/>
              </a:solidFill>
            </a:ln>
            <a:effectLst>
              <a:outerShdw blurRad="381000" dist="292100" dir="5400000" sx="-80000" sy="-18000" rotWithShape="0">
                <a:srgbClr val="000000">
                  <a:alpha val="22000"/>
                </a:srgbClr>
              </a:outerShdw>
            </a:effectLst>
            <a:scene3d>
              <a:camera prst="orthographicFront"/>
              <a:lightRig rig="contrasting" dir="t">
                <a:rot lat="0" lon="0" rev="3000000"/>
              </a:lightRig>
            </a:scene3d>
            <a:sp3d contourW="7620">
              <a:bevelT w="95250" h="31750"/>
              <a:contourClr>
                <a:srgbClr val="333333"/>
              </a:contourClr>
            </a:sp3d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CD2111EA-3598-0C8E-0884-D61916A43F1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915591" y="166850"/>
              <a:ext cx="800219" cy="923330"/>
            </a:xfrm>
            <a:prstGeom prst="ellipse">
              <a:avLst/>
            </a:prstGeom>
            <a:ln w="63500" cap="rnd">
              <a:solidFill>
                <a:srgbClr val="333333"/>
              </a:solidFill>
            </a:ln>
            <a:effectLst>
              <a:outerShdw blurRad="381000" dist="292100" dir="5400000" sx="-80000" sy="-18000" rotWithShape="0">
                <a:srgbClr val="000000">
                  <a:alpha val="22000"/>
                </a:srgbClr>
              </a:outerShdw>
            </a:effectLst>
            <a:scene3d>
              <a:camera prst="orthographicFront"/>
              <a:lightRig rig="contrasting" dir="t">
                <a:rot lat="0" lon="0" rev="3000000"/>
              </a:lightRig>
            </a:scene3d>
            <a:sp3d contourW="7620">
              <a:bevelT w="95250" h="31750"/>
              <a:contourClr>
                <a:srgbClr val="333333"/>
              </a:contourClr>
            </a:sp3d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536381AF-20B5-337E-D49E-70FFA7D62577}"/>
                </a:ext>
              </a:extLst>
            </p:cNvPr>
            <p:cNvSpPr txBox="1"/>
            <p:nvPr/>
          </p:nvSpPr>
          <p:spPr>
            <a:xfrm>
              <a:off x="2486518" y="940459"/>
              <a:ext cx="744855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1400" b="1" dirty="0">
                  <a:solidFill>
                    <a:schemeClr val="accent1">
                      <a:lumMod val="60000"/>
                      <a:lumOff val="40000"/>
                    </a:schemeClr>
                  </a:solidFill>
                  <a:latin typeface="Dubai" panose="020B0503030403030204" pitchFamily="34" charset="-78"/>
                  <a:cs typeface="Dubai" panose="020B0503030403030204" pitchFamily="34" charset="-78"/>
                </a:rPr>
                <a:t>BG Nagara, Nagamangala Taluk, Mandya District, Karnataka, India-571448</a:t>
              </a:r>
            </a:p>
            <a:p>
              <a:pPr algn="ctr"/>
              <a:r>
                <a:rPr lang="en-IN" sz="1400" b="1" dirty="0">
                  <a:solidFill>
                    <a:schemeClr val="accent1">
                      <a:lumMod val="60000"/>
                      <a:lumOff val="40000"/>
                    </a:schemeClr>
                  </a:solidFill>
                  <a:latin typeface="Dubai" panose="020B0503030403030204" pitchFamily="34" charset="-78"/>
                  <a:cs typeface="Dubai" panose="020B0503030403030204" pitchFamily="34" charset="-78"/>
                  <a:hlinkClick r:id="rId4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Tel: 08234-28841-419</a:t>
              </a:r>
              <a:r>
                <a:rPr lang="en-IN" sz="1400" b="1" dirty="0">
                  <a:solidFill>
                    <a:schemeClr val="accent1">
                      <a:lumMod val="60000"/>
                      <a:lumOff val="40000"/>
                    </a:schemeClr>
                  </a:solidFill>
                  <a:latin typeface="Dubai" panose="020B0503030403030204" pitchFamily="34" charset="-78"/>
                  <a:cs typeface="Dubai" panose="020B0503030403030204" pitchFamily="34" charset="-78"/>
                </a:rPr>
                <a:t>, Web: www.bgsit.ac.in</a:t>
              </a:r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BD5BC1E9-2BEE-38C7-7AF1-00D8C8E03DB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clrChange>
                <a:clrFrom>
                  <a:srgbClr val="FAE4EB"/>
                </a:clrFrom>
                <a:clrTo>
                  <a:srgbClr val="FAE4EB">
                    <a:alpha val="0"/>
                  </a:srgbClr>
                </a:clrTo>
              </a:clrChange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saturation sat="4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16158" y="796088"/>
              <a:ext cx="712029" cy="663482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70501090-47E7-9A01-8AC5-C7A4BA4AE75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30497" y="821524"/>
              <a:ext cx="615216" cy="607049"/>
            </a:xfrm>
            <a:prstGeom prst="rect">
              <a:avLst/>
            </a:prstGeom>
          </p:spPr>
        </p:pic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BCFD3587-BF79-1F95-B965-44E9A0EF6C44}"/>
                </a:ext>
              </a:extLst>
            </p:cNvPr>
            <p:cNvSpPr/>
            <p:nvPr/>
          </p:nvSpPr>
          <p:spPr>
            <a:xfrm>
              <a:off x="0" y="1527050"/>
              <a:ext cx="12192000" cy="4430324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sp>
        <p:nvSpPr>
          <p:cNvPr id="12" name="Google Shape;76;p15">
            <a:extLst>
              <a:ext uri="{FF2B5EF4-FFF2-40B4-BE49-F238E27FC236}">
                <a16:creationId xmlns:a16="http://schemas.microsoft.com/office/drawing/2014/main" id="{8AEAAB38-0928-0D57-C5D4-17DC88A963B9}"/>
              </a:ext>
            </a:extLst>
          </p:cNvPr>
          <p:cNvSpPr txBox="1"/>
          <p:nvPr/>
        </p:nvSpPr>
        <p:spPr>
          <a:xfrm>
            <a:off x="135376" y="1794598"/>
            <a:ext cx="9232559" cy="6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/>
            <a:r>
              <a:rPr lang="en-US" sz="3000" b="1" dirty="0">
                <a:solidFill>
                  <a:srgbClr val="002060"/>
                </a:solidFill>
                <a:latin typeface="Bookman Old Style" panose="02050604050505020204" pitchFamily="18" charset="0"/>
                <a:ea typeface="Georgia"/>
                <a:cs typeface="Dubai" panose="020B0503030403030204" pitchFamily="34" charset="-78"/>
                <a:sym typeface="Georgia"/>
              </a:rPr>
              <a:t>9. Hardware/Software Requirements: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FE18FE78-4AF5-0F3F-A152-4A2973C76F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E5D90C-BE40-4037-AC5E-CD620FE48C47}" type="slidenum">
              <a:rPr lang="en-IN" smtClean="0"/>
              <a:t>11</a:t>
            </a:fld>
            <a:endParaRPr lang="en-IN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81911515-2E2F-3F61-0D62-F0CE16CF1422}"/>
              </a:ext>
            </a:extLst>
          </p:cNvPr>
          <p:cNvSpPr/>
          <p:nvPr/>
        </p:nvSpPr>
        <p:spPr>
          <a:xfrm>
            <a:off x="11407899" y="6176865"/>
            <a:ext cx="615821" cy="577939"/>
          </a:xfrm>
          <a:prstGeom prst="ellipse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10</a:t>
            </a:r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706C72-DD75-6828-856A-BEE3D42750EA}"/>
              </a:ext>
            </a:extLst>
          </p:cNvPr>
          <p:cNvSpPr txBox="1"/>
          <p:nvPr/>
        </p:nvSpPr>
        <p:spPr>
          <a:xfrm>
            <a:off x="135376" y="2405919"/>
            <a:ext cx="10880148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en-IN" b="1" dirty="0">
                <a:solidFill>
                  <a:schemeClr val="bg1"/>
                </a:solidFill>
              </a:rPr>
              <a:t>Hardware</a:t>
            </a:r>
          </a:p>
          <a:p>
            <a:pPr algn="just">
              <a:buNone/>
            </a:pPr>
            <a:endParaRPr lang="en-IN" b="1" dirty="0">
              <a:solidFill>
                <a:schemeClr val="bg1"/>
              </a:solidFill>
            </a:endParaRPr>
          </a:p>
          <a:p>
            <a:r>
              <a:rPr lang="en-IN" b="1" dirty="0">
                <a:solidFill>
                  <a:schemeClr val="bg1"/>
                </a:solidFill>
              </a:rPr>
              <a:t>1. Airframe and Mobility System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</a:rPr>
              <a:t>Quadrotor Frame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</a:rPr>
              <a:t>4 × BLDC Motors + 4 × ESCs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</a:rPr>
              <a:t>4 × Propellers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</a:rPr>
              <a:t>Rover Base (4 Wheels)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</a:rPr>
              <a:t>DC Gear Motors</a:t>
            </a:r>
          </a:p>
          <a:p>
            <a:endParaRPr lang="en-IN" dirty="0">
              <a:solidFill>
                <a:schemeClr val="bg1"/>
              </a:solidFill>
            </a:endParaRPr>
          </a:p>
          <a:p>
            <a:r>
              <a:rPr lang="en-US" b="1" dirty="0">
                <a:solidFill>
                  <a:schemeClr val="bg1"/>
                </a:solidFill>
              </a:rPr>
              <a:t>2. Compute and Control System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Mini Pix (Pixhawk) Flight Controller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chemeClr val="bg1"/>
                </a:solidFill>
              </a:rPr>
              <a:t>FlySky</a:t>
            </a:r>
            <a:r>
              <a:rPr lang="en-US" dirty="0">
                <a:solidFill>
                  <a:schemeClr val="bg1"/>
                </a:solidFill>
              </a:rPr>
              <a:t> Transmitter &amp; Receiver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b="1" dirty="0">
                <a:solidFill>
                  <a:schemeClr val="bg1"/>
                </a:solidFill>
              </a:rPr>
              <a:t>3. Navigation and Positioning System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GPS Module </a:t>
            </a:r>
          </a:p>
          <a:p>
            <a:endParaRPr lang="en-IN" dirty="0">
              <a:solidFill>
                <a:schemeClr val="bg1"/>
              </a:solidFill>
            </a:endParaRPr>
          </a:p>
          <a:p>
            <a:pPr algn="just">
              <a:buFont typeface="Arial" panose="020B0604020202020204" pitchFamily="34" charset="0"/>
              <a:buChar char="•"/>
            </a:pPr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93162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68EF924E-9AF1-1604-AE2D-D3971428E30A}"/>
              </a:ext>
            </a:extLst>
          </p:cNvPr>
          <p:cNvGrpSpPr/>
          <p:nvPr/>
        </p:nvGrpSpPr>
        <p:grpSpPr>
          <a:xfrm>
            <a:off x="0" y="33184"/>
            <a:ext cx="12192000" cy="6824817"/>
            <a:chOff x="0" y="33184"/>
            <a:chExt cx="12192000" cy="5924191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8CA76AFF-7ECB-5A35-042C-E33A62716F5F}"/>
                </a:ext>
              </a:extLst>
            </p:cNvPr>
            <p:cNvSpPr txBox="1"/>
            <p:nvPr/>
          </p:nvSpPr>
          <p:spPr>
            <a:xfrm>
              <a:off x="2167719" y="33184"/>
              <a:ext cx="7818825" cy="97513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1100" b="1" dirty="0">
                  <a:solidFill>
                    <a:srgbClr val="FF9900"/>
                  </a:solidFill>
                  <a:latin typeface="Bookman Old Style" panose="02050604050505020204" pitchFamily="18" charset="0"/>
                </a:rPr>
                <a:t>|| Jai Sri  Gurudev||</a:t>
              </a:r>
            </a:p>
            <a:p>
              <a:pPr algn="ctr"/>
              <a:r>
                <a:rPr lang="en-IN" b="1" dirty="0">
                  <a:latin typeface="Bookman Old Style" panose="02050604050505020204" pitchFamily="18" charset="0"/>
                </a:rPr>
                <a:t> </a:t>
              </a:r>
              <a:r>
                <a:rPr lang="en-IN" sz="2000" b="1" dirty="0">
                  <a:latin typeface="Bookman Old Style" panose="02050604050505020204" pitchFamily="18" charset="0"/>
                </a:rPr>
                <a:t>ADICHUNCHANAGIRI UNIVERSITY</a:t>
              </a:r>
            </a:p>
            <a:p>
              <a:pPr algn="ctr"/>
              <a:r>
                <a:rPr lang="en-IN" b="1" dirty="0">
                  <a:latin typeface="Bookman Old Style" panose="02050604050505020204" pitchFamily="18" charset="0"/>
                </a:rPr>
                <a:t> </a:t>
              </a:r>
              <a:r>
                <a:rPr lang="en-IN" b="1" dirty="0">
                  <a:solidFill>
                    <a:schemeClr val="accent1">
                      <a:lumMod val="20000"/>
                      <a:lumOff val="80000"/>
                    </a:schemeClr>
                  </a:solidFill>
                  <a:latin typeface="Bookman Old Style" panose="02050604050505020204" pitchFamily="18" charset="0"/>
                </a:rPr>
                <a:t>FACULTY OF ENGINEERING AND TECHNOLOGY</a:t>
              </a:r>
            </a:p>
            <a:p>
              <a:pPr algn="ctr"/>
              <a:r>
                <a:rPr lang="en-IN" b="1" dirty="0">
                  <a:solidFill>
                    <a:schemeClr val="accent1">
                      <a:lumMod val="20000"/>
                      <a:lumOff val="80000"/>
                    </a:schemeClr>
                  </a:solidFill>
                  <a:latin typeface="Bookman Old Style" panose="02050604050505020204" pitchFamily="18" charset="0"/>
                </a:rPr>
                <a:t>(BGS INSTITUTE OF TECHNOLOGY)</a:t>
              </a:r>
            </a:p>
          </p:txBody>
        </p: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98444584-AE51-5B5E-F680-C2F13D547F8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7926" y="166850"/>
              <a:ext cx="800731" cy="923330"/>
            </a:xfrm>
            <a:prstGeom prst="ellipse">
              <a:avLst/>
            </a:prstGeom>
            <a:ln w="63500" cap="rnd">
              <a:solidFill>
                <a:srgbClr val="333333"/>
              </a:solidFill>
            </a:ln>
            <a:effectLst>
              <a:outerShdw blurRad="381000" dist="292100" dir="5400000" sx="-80000" sy="-18000" rotWithShape="0">
                <a:srgbClr val="000000">
                  <a:alpha val="22000"/>
                </a:srgbClr>
              </a:outerShdw>
            </a:effectLst>
            <a:scene3d>
              <a:camera prst="orthographicFront"/>
              <a:lightRig rig="contrasting" dir="t">
                <a:rot lat="0" lon="0" rev="3000000"/>
              </a:lightRig>
            </a:scene3d>
            <a:sp3d contourW="7620">
              <a:bevelT w="95250" h="31750"/>
              <a:contourClr>
                <a:srgbClr val="333333"/>
              </a:contourClr>
            </a:sp3d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F4F1BED9-778C-3866-1032-B53820BE080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915591" y="166850"/>
              <a:ext cx="800219" cy="923330"/>
            </a:xfrm>
            <a:prstGeom prst="ellipse">
              <a:avLst/>
            </a:prstGeom>
            <a:ln w="63500" cap="rnd">
              <a:solidFill>
                <a:srgbClr val="333333"/>
              </a:solidFill>
            </a:ln>
            <a:effectLst>
              <a:outerShdw blurRad="381000" dist="292100" dir="5400000" sx="-80000" sy="-18000" rotWithShape="0">
                <a:srgbClr val="000000">
                  <a:alpha val="22000"/>
                </a:srgbClr>
              </a:outerShdw>
            </a:effectLst>
            <a:scene3d>
              <a:camera prst="orthographicFront"/>
              <a:lightRig rig="contrasting" dir="t">
                <a:rot lat="0" lon="0" rev="3000000"/>
              </a:lightRig>
            </a:scene3d>
            <a:sp3d contourW="7620">
              <a:bevelT w="95250" h="31750"/>
              <a:contourClr>
                <a:srgbClr val="333333"/>
              </a:contourClr>
            </a:sp3d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C75F460C-A414-FDF8-0B39-4EC3A3B1CD1A}"/>
                </a:ext>
              </a:extLst>
            </p:cNvPr>
            <p:cNvSpPr txBox="1"/>
            <p:nvPr/>
          </p:nvSpPr>
          <p:spPr>
            <a:xfrm>
              <a:off x="2486518" y="940459"/>
              <a:ext cx="744855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1400" b="1" dirty="0">
                  <a:solidFill>
                    <a:schemeClr val="accent1">
                      <a:lumMod val="60000"/>
                      <a:lumOff val="40000"/>
                    </a:schemeClr>
                  </a:solidFill>
                  <a:latin typeface="Dubai" panose="020B0503030403030204" pitchFamily="34" charset="-78"/>
                  <a:cs typeface="Dubai" panose="020B0503030403030204" pitchFamily="34" charset="-78"/>
                </a:rPr>
                <a:t>BG Nagara, Nagamangala Taluk, Mandya District, Karnataka, India-571448</a:t>
              </a:r>
            </a:p>
            <a:p>
              <a:pPr algn="ctr"/>
              <a:r>
                <a:rPr lang="en-IN" sz="1400" b="1" dirty="0">
                  <a:solidFill>
                    <a:schemeClr val="accent1">
                      <a:lumMod val="60000"/>
                      <a:lumOff val="40000"/>
                    </a:schemeClr>
                  </a:solidFill>
                  <a:latin typeface="Dubai" panose="020B0503030403030204" pitchFamily="34" charset="-78"/>
                  <a:cs typeface="Dubai" panose="020B0503030403030204" pitchFamily="34" charset="-78"/>
                  <a:hlinkClick r:id="rId4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Tel: 08234-28841-419</a:t>
              </a:r>
              <a:r>
                <a:rPr lang="en-IN" sz="1400" b="1" dirty="0">
                  <a:solidFill>
                    <a:schemeClr val="accent1">
                      <a:lumMod val="60000"/>
                      <a:lumOff val="40000"/>
                    </a:schemeClr>
                  </a:solidFill>
                  <a:latin typeface="Dubai" panose="020B0503030403030204" pitchFamily="34" charset="-78"/>
                  <a:cs typeface="Dubai" panose="020B0503030403030204" pitchFamily="34" charset="-78"/>
                </a:rPr>
                <a:t>, Web: www.bgsit.ac.in</a:t>
              </a:r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673589AF-815D-F9BA-A9CE-D3055412E2B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clrChange>
                <a:clrFrom>
                  <a:srgbClr val="FAE4EB"/>
                </a:clrFrom>
                <a:clrTo>
                  <a:srgbClr val="FAE4EB">
                    <a:alpha val="0"/>
                  </a:srgbClr>
                </a:clrTo>
              </a:clrChange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saturation sat="4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977555" y="800146"/>
              <a:ext cx="712029" cy="663482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6AFECC9D-AB35-7AFB-BBC4-18ACE0F9D41B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28815" y="853044"/>
              <a:ext cx="615216" cy="607049"/>
            </a:xfrm>
            <a:prstGeom prst="rect">
              <a:avLst/>
            </a:prstGeom>
          </p:spPr>
        </p:pic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97A638C-088D-B6A4-9E4A-583B8427B136}"/>
                </a:ext>
              </a:extLst>
            </p:cNvPr>
            <p:cNvSpPr/>
            <p:nvPr/>
          </p:nvSpPr>
          <p:spPr>
            <a:xfrm>
              <a:off x="0" y="1535150"/>
              <a:ext cx="12192000" cy="4422225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1B253354-28C2-0235-B236-1DB2F1E208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en-IN" dirty="0"/>
          </a:p>
          <a:p>
            <a:endParaRPr lang="en-IN" dirty="0"/>
          </a:p>
          <a:p>
            <a:fld id="{07E5D90C-BE40-4037-AC5E-CD620FE48C47}" type="slidenum">
              <a:rPr lang="en-IN" smtClean="0"/>
              <a:t>12</a:t>
            </a:fld>
            <a:endParaRPr lang="en-IN" dirty="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0ED76996-5890-53BD-272F-51D379151C8E}"/>
              </a:ext>
            </a:extLst>
          </p:cNvPr>
          <p:cNvSpPr/>
          <p:nvPr/>
        </p:nvSpPr>
        <p:spPr>
          <a:xfrm>
            <a:off x="11407899" y="6176865"/>
            <a:ext cx="615821" cy="577939"/>
          </a:xfrm>
          <a:prstGeom prst="ellipse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  <a:r>
              <a:rPr lang="en-IN" dirty="0"/>
              <a:t>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FB81A44-1092-C840-4D3A-0A4493E279CC}"/>
              </a:ext>
            </a:extLst>
          </p:cNvPr>
          <p:cNvSpPr txBox="1"/>
          <p:nvPr/>
        </p:nvSpPr>
        <p:spPr>
          <a:xfrm>
            <a:off x="95125" y="1936231"/>
            <a:ext cx="10238444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4. Waste Collection and Disposal System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Vacuum Motor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Dust Collection Container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Servo Motor (Waste Disposal Door)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b="1" dirty="0">
                <a:solidFill>
                  <a:schemeClr val="bg1"/>
                </a:solidFill>
              </a:rPr>
              <a:t>5. Communication and Power System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chemeClr val="bg1"/>
                </a:solidFill>
              </a:rPr>
              <a:t>WeMos</a:t>
            </a:r>
            <a:r>
              <a:rPr lang="en-US" dirty="0">
                <a:solidFill>
                  <a:schemeClr val="bg1"/>
                </a:solidFill>
              </a:rPr>
              <a:t> D1 Mini (ESP8266)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Li-Po Battery</a:t>
            </a:r>
          </a:p>
          <a:p>
            <a:pPr lvl="1" algn="just"/>
            <a:endParaRPr lang="en-IN" dirty="0">
              <a:solidFill>
                <a:schemeClr val="bg1"/>
              </a:solidFill>
            </a:endParaRPr>
          </a:p>
          <a:p>
            <a:pPr algn="just">
              <a:buNone/>
            </a:pPr>
            <a:r>
              <a:rPr lang="en-IN" b="1" dirty="0">
                <a:solidFill>
                  <a:schemeClr val="bg1"/>
                </a:solidFill>
                <a:latin typeface="+mj-lt"/>
              </a:rPr>
              <a:t>Software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IN" b="1" dirty="0">
              <a:solidFill>
                <a:schemeClr val="bg1"/>
              </a:solidFill>
              <a:latin typeface="+mj-lt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chemeClr val="bg1"/>
                </a:solidFill>
                <a:latin typeface="+mj-lt"/>
              </a:rPr>
              <a:t>Mission Planner – </a:t>
            </a:r>
            <a:r>
              <a:rPr lang="en-IN" dirty="0">
                <a:solidFill>
                  <a:schemeClr val="bg1"/>
                </a:solidFill>
                <a:latin typeface="+mj-lt"/>
              </a:rPr>
              <a:t>Configuration and Monitoring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b="1" dirty="0" err="1">
                <a:solidFill>
                  <a:schemeClr val="bg1"/>
                </a:solidFill>
                <a:latin typeface="+mj-lt"/>
              </a:rPr>
              <a:t>ArduPilot</a:t>
            </a:r>
            <a:r>
              <a:rPr lang="en-IN" b="1" dirty="0">
                <a:solidFill>
                  <a:schemeClr val="bg1"/>
                </a:solidFill>
                <a:latin typeface="+mj-lt"/>
              </a:rPr>
              <a:t> Firmware – </a:t>
            </a:r>
            <a:r>
              <a:rPr lang="en-IN" dirty="0">
                <a:solidFill>
                  <a:schemeClr val="bg1"/>
                </a:solidFill>
                <a:latin typeface="+mj-lt"/>
              </a:rPr>
              <a:t>Flight Control and navigation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chemeClr val="bg1"/>
                </a:solidFill>
                <a:latin typeface="+mj-lt"/>
              </a:rPr>
              <a:t>Telemetry Interface – </a:t>
            </a:r>
            <a:r>
              <a:rPr lang="en-IN" dirty="0">
                <a:solidFill>
                  <a:schemeClr val="bg1"/>
                </a:solidFill>
                <a:latin typeface="+mj-lt"/>
              </a:rPr>
              <a:t>Wireless data Communication</a:t>
            </a:r>
          </a:p>
          <a:p>
            <a:pPr algn="just">
              <a:buNone/>
            </a:pPr>
            <a:endParaRPr lang="en-IN" b="1" dirty="0">
              <a:solidFill>
                <a:schemeClr val="bg1"/>
              </a:solidFill>
              <a:latin typeface="+mj-lt"/>
            </a:endParaRPr>
          </a:p>
          <a:p>
            <a:pPr algn="just">
              <a:buNone/>
            </a:pPr>
            <a:endParaRPr lang="en-IN" b="1" dirty="0">
              <a:solidFill>
                <a:schemeClr val="bg1"/>
              </a:solidFill>
              <a:latin typeface="+mj-lt"/>
            </a:endParaRPr>
          </a:p>
          <a:p>
            <a:pPr algn="just">
              <a:buNone/>
            </a:pPr>
            <a:endParaRPr lang="en-IN" b="1" dirty="0">
              <a:solidFill>
                <a:schemeClr val="bg1"/>
              </a:solidFill>
              <a:latin typeface="+mj-lt"/>
            </a:endParaRPr>
          </a:p>
          <a:p>
            <a:pPr algn="just">
              <a:buNone/>
            </a:pPr>
            <a:endParaRPr lang="en-IN" b="1" dirty="0">
              <a:solidFill>
                <a:schemeClr val="bg1"/>
              </a:solidFill>
              <a:latin typeface="+mj-lt"/>
            </a:endParaRPr>
          </a:p>
          <a:p>
            <a:pPr algn="just">
              <a:buNone/>
            </a:pPr>
            <a:endParaRPr lang="en-IN" b="1" dirty="0">
              <a:solidFill>
                <a:schemeClr val="bg1"/>
              </a:solidFill>
              <a:latin typeface="+mj-lt"/>
            </a:endParaRPr>
          </a:p>
          <a:p>
            <a:pPr algn="just">
              <a:buNone/>
            </a:pPr>
            <a:endParaRPr lang="en-IN" b="1" dirty="0">
              <a:solidFill>
                <a:schemeClr val="bg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3795074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5C9151-3A7D-F5A5-B7FF-F84E833371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76979D43-933D-2A88-0047-64A74FFE776B}"/>
              </a:ext>
            </a:extLst>
          </p:cNvPr>
          <p:cNvGrpSpPr/>
          <p:nvPr/>
        </p:nvGrpSpPr>
        <p:grpSpPr>
          <a:xfrm>
            <a:off x="0" y="33184"/>
            <a:ext cx="12192000" cy="6824816"/>
            <a:chOff x="0" y="33184"/>
            <a:chExt cx="12192000" cy="5924190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4A7AD1CB-E461-A83C-3866-31EEA6DE3D20}"/>
                </a:ext>
              </a:extLst>
            </p:cNvPr>
            <p:cNvSpPr txBox="1"/>
            <p:nvPr/>
          </p:nvSpPr>
          <p:spPr>
            <a:xfrm>
              <a:off x="2167719" y="33184"/>
              <a:ext cx="7818825" cy="97513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1100" b="1" dirty="0">
                  <a:solidFill>
                    <a:srgbClr val="FF9900"/>
                  </a:solidFill>
                  <a:latin typeface="Bookman Old Style" panose="02050604050505020204" pitchFamily="18" charset="0"/>
                </a:rPr>
                <a:t>|| Jai Sri  Gurudev||</a:t>
              </a:r>
            </a:p>
            <a:p>
              <a:pPr algn="ctr"/>
              <a:r>
                <a:rPr lang="en-IN" b="1" dirty="0">
                  <a:latin typeface="Bookman Old Style" panose="02050604050505020204" pitchFamily="18" charset="0"/>
                </a:rPr>
                <a:t> </a:t>
              </a:r>
              <a:r>
                <a:rPr lang="en-IN" sz="2000" b="1" dirty="0">
                  <a:latin typeface="Bookman Old Style" panose="02050604050505020204" pitchFamily="18" charset="0"/>
                </a:rPr>
                <a:t>ADICHUNCHANAGIRI UNIVERSITY</a:t>
              </a:r>
            </a:p>
            <a:p>
              <a:pPr algn="ctr"/>
              <a:r>
                <a:rPr lang="en-IN" b="1" dirty="0">
                  <a:latin typeface="Bookman Old Style" panose="02050604050505020204" pitchFamily="18" charset="0"/>
                </a:rPr>
                <a:t> </a:t>
              </a:r>
              <a:r>
                <a:rPr lang="en-IN" b="1" dirty="0">
                  <a:solidFill>
                    <a:schemeClr val="accent1">
                      <a:lumMod val="20000"/>
                      <a:lumOff val="80000"/>
                    </a:schemeClr>
                  </a:solidFill>
                  <a:latin typeface="Bookman Old Style" panose="02050604050505020204" pitchFamily="18" charset="0"/>
                </a:rPr>
                <a:t>FACULTY OF ENGINEERING AND TECHNOLOGY</a:t>
              </a:r>
            </a:p>
            <a:p>
              <a:pPr algn="ctr"/>
              <a:r>
                <a:rPr lang="en-IN" b="1" dirty="0">
                  <a:solidFill>
                    <a:schemeClr val="accent1">
                      <a:lumMod val="20000"/>
                      <a:lumOff val="80000"/>
                    </a:schemeClr>
                  </a:solidFill>
                  <a:latin typeface="Bookman Old Style" panose="02050604050505020204" pitchFamily="18" charset="0"/>
                </a:rPr>
                <a:t>(BGS INSTITUTE OF TECHNOLOGY)</a:t>
              </a:r>
            </a:p>
          </p:txBody>
        </p: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68B31A6A-3815-A1B0-91A2-DDE6F321CFC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7926" y="166850"/>
              <a:ext cx="800731" cy="923330"/>
            </a:xfrm>
            <a:prstGeom prst="ellipse">
              <a:avLst/>
            </a:prstGeom>
            <a:ln w="63500" cap="rnd">
              <a:solidFill>
                <a:srgbClr val="333333"/>
              </a:solidFill>
            </a:ln>
            <a:effectLst>
              <a:outerShdw blurRad="381000" dist="292100" dir="5400000" sx="-80000" sy="-18000" rotWithShape="0">
                <a:srgbClr val="000000">
                  <a:alpha val="22000"/>
                </a:srgbClr>
              </a:outerShdw>
            </a:effectLst>
            <a:scene3d>
              <a:camera prst="orthographicFront"/>
              <a:lightRig rig="contrasting" dir="t">
                <a:rot lat="0" lon="0" rev="3000000"/>
              </a:lightRig>
            </a:scene3d>
            <a:sp3d contourW="7620">
              <a:bevelT w="95250" h="31750"/>
              <a:contourClr>
                <a:srgbClr val="333333"/>
              </a:contourClr>
            </a:sp3d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F83EB332-A505-E4B4-9917-B73991FD30C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915591" y="166850"/>
              <a:ext cx="800219" cy="923330"/>
            </a:xfrm>
            <a:prstGeom prst="ellipse">
              <a:avLst/>
            </a:prstGeom>
            <a:ln w="63500" cap="rnd">
              <a:solidFill>
                <a:srgbClr val="333333"/>
              </a:solidFill>
            </a:ln>
            <a:effectLst>
              <a:outerShdw blurRad="381000" dist="292100" dir="5400000" sx="-80000" sy="-18000" rotWithShape="0">
                <a:srgbClr val="000000">
                  <a:alpha val="22000"/>
                </a:srgbClr>
              </a:outerShdw>
            </a:effectLst>
            <a:scene3d>
              <a:camera prst="orthographicFront"/>
              <a:lightRig rig="contrasting" dir="t">
                <a:rot lat="0" lon="0" rev="3000000"/>
              </a:lightRig>
            </a:scene3d>
            <a:sp3d contourW="7620">
              <a:bevelT w="95250" h="31750"/>
              <a:contourClr>
                <a:srgbClr val="333333"/>
              </a:contourClr>
            </a:sp3d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04C47842-92FD-D5EA-AC07-73FF38F412C6}"/>
                </a:ext>
              </a:extLst>
            </p:cNvPr>
            <p:cNvSpPr txBox="1"/>
            <p:nvPr/>
          </p:nvSpPr>
          <p:spPr>
            <a:xfrm>
              <a:off x="2486518" y="961346"/>
              <a:ext cx="744855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1400" b="1" dirty="0">
                  <a:solidFill>
                    <a:schemeClr val="accent1">
                      <a:lumMod val="60000"/>
                      <a:lumOff val="40000"/>
                    </a:schemeClr>
                  </a:solidFill>
                  <a:latin typeface="Dubai" panose="020B0503030403030204" pitchFamily="34" charset="-78"/>
                  <a:cs typeface="Dubai" panose="020B0503030403030204" pitchFamily="34" charset="-78"/>
                </a:rPr>
                <a:t>BG Nagara, Nagamangala Taluk, Mandya District, Karnataka, India-571448</a:t>
              </a:r>
            </a:p>
            <a:p>
              <a:pPr algn="ctr"/>
              <a:r>
                <a:rPr lang="en-IN" sz="1400" b="1" dirty="0">
                  <a:solidFill>
                    <a:schemeClr val="accent1">
                      <a:lumMod val="60000"/>
                      <a:lumOff val="40000"/>
                    </a:schemeClr>
                  </a:solidFill>
                  <a:latin typeface="Dubai" panose="020B0503030403030204" pitchFamily="34" charset="-78"/>
                  <a:cs typeface="Dubai" panose="020B0503030403030204" pitchFamily="34" charset="-78"/>
                  <a:hlinkClick r:id="rId4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Tel: 08234-28841-419</a:t>
              </a:r>
              <a:r>
                <a:rPr lang="en-IN" sz="1400" b="1" dirty="0">
                  <a:solidFill>
                    <a:schemeClr val="accent1">
                      <a:lumMod val="60000"/>
                      <a:lumOff val="40000"/>
                    </a:schemeClr>
                  </a:solidFill>
                  <a:latin typeface="Dubai" panose="020B0503030403030204" pitchFamily="34" charset="-78"/>
                  <a:cs typeface="Dubai" panose="020B0503030403030204" pitchFamily="34" charset="-78"/>
                </a:rPr>
                <a:t>, Web: www.bgsit.ac.in</a:t>
              </a:r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0E9B706D-8281-6624-368A-E1AD240F518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clrChange>
                <a:clrFrom>
                  <a:srgbClr val="FAE4EB"/>
                </a:clrFrom>
                <a:clrTo>
                  <a:srgbClr val="FAE4EB">
                    <a:alpha val="0"/>
                  </a:srgbClr>
                </a:clrTo>
              </a:clrChange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saturation sat="4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992569" y="796154"/>
              <a:ext cx="712029" cy="663482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C94D1BE1-9B0A-6982-47AD-7E1D78AC28E3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28815" y="786655"/>
              <a:ext cx="615216" cy="607049"/>
            </a:xfrm>
            <a:prstGeom prst="rect">
              <a:avLst/>
            </a:prstGeom>
          </p:spPr>
        </p:pic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2F1D361-5D03-867E-A75C-395908D1E1E3}"/>
                </a:ext>
              </a:extLst>
            </p:cNvPr>
            <p:cNvSpPr/>
            <p:nvPr/>
          </p:nvSpPr>
          <p:spPr>
            <a:xfrm>
              <a:off x="0" y="1484566"/>
              <a:ext cx="12192000" cy="4472808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sp>
        <p:nvSpPr>
          <p:cNvPr id="12" name="Google Shape;76;p15">
            <a:extLst>
              <a:ext uri="{FF2B5EF4-FFF2-40B4-BE49-F238E27FC236}">
                <a16:creationId xmlns:a16="http://schemas.microsoft.com/office/drawing/2014/main" id="{CA70ECBF-6CA4-058A-10E7-A1BF25E6B529}"/>
              </a:ext>
            </a:extLst>
          </p:cNvPr>
          <p:cNvSpPr txBox="1"/>
          <p:nvPr/>
        </p:nvSpPr>
        <p:spPr>
          <a:xfrm>
            <a:off x="144707" y="1822256"/>
            <a:ext cx="9232559" cy="6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/>
            <a:r>
              <a:rPr lang="en-US" sz="3000" b="1" dirty="0">
                <a:solidFill>
                  <a:srgbClr val="002060"/>
                </a:solidFill>
                <a:latin typeface="Bookman Old Style" panose="02050604050505020204" pitchFamily="18" charset="0"/>
                <a:ea typeface="Georgia"/>
                <a:cs typeface="Dubai" panose="020B0503030403030204" pitchFamily="34" charset="-78"/>
                <a:sym typeface="Georgia"/>
              </a:rPr>
              <a:t>10.Components Description: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98FC4F7-574E-7917-6A94-982EEB1051F6}"/>
              </a:ext>
            </a:extLst>
          </p:cNvPr>
          <p:cNvSpPr txBox="1"/>
          <p:nvPr/>
        </p:nvSpPr>
        <p:spPr>
          <a:xfrm>
            <a:off x="611010" y="2648671"/>
            <a:ext cx="106286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1DC91C05-E3E6-954D-0773-1E74A6ADFE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E5D90C-BE40-4037-AC5E-CD620FE48C47}" type="slidenum">
              <a:rPr lang="en-IN" smtClean="0"/>
              <a:t>13</a:t>
            </a:fld>
            <a:endParaRPr lang="en-IN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1A04D72E-CE1D-AA74-B571-F6C58E1638DE}"/>
              </a:ext>
            </a:extLst>
          </p:cNvPr>
          <p:cNvSpPr/>
          <p:nvPr/>
        </p:nvSpPr>
        <p:spPr>
          <a:xfrm>
            <a:off x="11407899" y="6176865"/>
            <a:ext cx="615821" cy="577939"/>
          </a:xfrm>
          <a:prstGeom prst="ellipse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  <a:r>
              <a:rPr lang="en-IN" dirty="0"/>
              <a:t>2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8B4F455-4843-90DC-DBF5-E0AA43A4FB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4771" y="-123829"/>
            <a:ext cx="9859510" cy="72943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lang="en-US" altLang="en-US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chemeClr val="bg1"/>
                </a:solidFill>
              </a:rPr>
              <a:t>Mini </a:t>
            </a:r>
            <a:r>
              <a:rPr lang="en-IN" b="1" dirty="0" err="1">
                <a:solidFill>
                  <a:schemeClr val="bg1"/>
                </a:solidFill>
              </a:rPr>
              <a:t>Pix</a:t>
            </a:r>
            <a:r>
              <a:rPr lang="en-IN" b="1" dirty="0">
                <a:solidFill>
                  <a:schemeClr val="bg1"/>
                </a:solidFill>
              </a:rPr>
              <a:t> Flight Controller- </a:t>
            </a:r>
            <a:r>
              <a:rPr lang="en-IN" dirty="0">
                <a:solidFill>
                  <a:schemeClr val="bg1"/>
                </a:solidFill>
              </a:rPr>
              <a:t>Controls and stabilizes the UGAV.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chemeClr val="bg1"/>
                </a:solidFill>
              </a:rPr>
              <a:t>Li-Po Battery- </a:t>
            </a:r>
            <a:r>
              <a:rPr lang="en-IN" dirty="0">
                <a:solidFill>
                  <a:schemeClr val="bg1"/>
                </a:solidFill>
              </a:rPr>
              <a:t>Provides power to the entire system.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chemeClr val="bg1"/>
                </a:solidFill>
              </a:rPr>
              <a:t>BLDC Motors with Propellers- </a:t>
            </a:r>
            <a:r>
              <a:rPr lang="en-IN" dirty="0">
                <a:solidFill>
                  <a:schemeClr val="bg1"/>
                </a:solidFill>
              </a:rPr>
              <a:t>Generate thrust for aerial flight.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chemeClr val="bg1"/>
                </a:solidFill>
              </a:rPr>
              <a:t>Electronic Speed Controller (ESC)- </a:t>
            </a:r>
            <a:r>
              <a:rPr lang="en-IN" dirty="0">
                <a:solidFill>
                  <a:schemeClr val="bg1"/>
                </a:solidFill>
              </a:rPr>
              <a:t>Controls the speed of BLDC motors.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chemeClr val="bg1"/>
                </a:solidFill>
              </a:rPr>
              <a:t>Rover Base with DC Gear Motors- </a:t>
            </a:r>
            <a:r>
              <a:rPr lang="en-IN" dirty="0">
                <a:solidFill>
                  <a:schemeClr val="bg1"/>
                </a:solidFill>
              </a:rPr>
              <a:t>Enables ground movement.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chemeClr val="bg1"/>
                </a:solidFill>
              </a:rPr>
              <a:t>GPS Module- </a:t>
            </a:r>
            <a:r>
              <a:rPr lang="en-IN" dirty="0">
                <a:solidFill>
                  <a:schemeClr val="bg1"/>
                </a:solidFill>
              </a:rPr>
              <a:t>Provides location and navigation data.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 err="1">
                <a:solidFill>
                  <a:schemeClr val="bg1"/>
                </a:solidFill>
              </a:rPr>
              <a:t>FlySky</a:t>
            </a:r>
            <a:r>
              <a:rPr lang="en-IN" b="1" dirty="0">
                <a:solidFill>
                  <a:schemeClr val="bg1"/>
                </a:solidFill>
              </a:rPr>
              <a:t> Transmitter &amp; Receiver- </a:t>
            </a:r>
            <a:r>
              <a:rPr lang="en-IN" dirty="0">
                <a:solidFill>
                  <a:schemeClr val="bg1"/>
                </a:solidFill>
              </a:rPr>
              <a:t>Enables wireless remote control.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chemeClr val="bg1"/>
                </a:solidFill>
              </a:rPr>
              <a:t>Vacuum Motor &amp; Dust Container- </a:t>
            </a:r>
            <a:r>
              <a:rPr lang="en-IN" dirty="0">
                <a:solidFill>
                  <a:schemeClr val="bg1"/>
                </a:solidFill>
              </a:rPr>
              <a:t>Collects and stores waste.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chemeClr val="bg1"/>
                </a:solidFill>
              </a:rPr>
              <a:t>Servo Motor- </a:t>
            </a:r>
            <a:r>
              <a:rPr lang="en-IN" dirty="0">
                <a:solidFill>
                  <a:schemeClr val="bg1"/>
                </a:solidFill>
              </a:rPr>
              <a:t>Controls waste disposal.</a:t>
            </a:r>
          </a:p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18404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EF4841-3CF0-B95E-8A6A-56A66DC6B0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D196B486-8267-D5B9-D57C-A450A2A66421}"/>
              </a:ext>
            </a:extLst>
          </p:cNvPr>
          <p:cNvGrpSpPr/>
          <p:nvPr/>
        </p:nvGrpSpPr>
        <p:grpSpPr>
          <a:xfrm>
            <a:off x="0" y="33184"/>
            <a:ext cx="12192000" cy="6824816"/>
            <a:chOff x="0" y="33184"/>
            <a:chExt cx="12192000" cy="5924190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794F5755-8753-3183-DA0B-1C7148C4133C}"/>
                </a:ext>
              </a:extLst>
            </p:cNvPr>
            <p:cNvSpPr txBox="1"/>
            <p:nvPr/>
          </p:nvSpPr>
          <p:spPr>
            <a:xfrm>
              <a:off x="2167719" y="33184"/>
              <a:ext cx="7818825" cy="97513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1100" b="1" dirty="0">
                  <a:solidFill>
                    <a:srgbClr val="FF9900"/>
                  </a:solidFill>
                  <a:latin typeface="Bookman Old Style" panose="02050604050505020204" pitchFamily="18" charset="0"/>
                </a:rPr>
                <a:t>|| Jai Sri  Gurudev||</a:t>
              </a:r>
            </a:p>
            <a:p>
              <a:pPr algn="ctr"/>
              <a:r>
                <a:rPr lang="en-IN" b="1" dirty="0">
                  <a:latin typeface="Bookman Old Style" panose="02050604050505020204" pitchFamily="18" charset="0"/>
                </a:rPr>
                <a:t> </a:t>
              </a:r>
              <a:r>
                <a:rPr lang="en-IN" sz="2000" b="1" dirty="0">
                  <a:latin typeface="Bookman Old Style" panose="02050604050505020204" pitchFamily="18" charset="0"/>
                </a:rPr>
                <a:t>ADICHUNCHANAGIRI UNIVERSITY</a:t>
              </a:r>
            </a:p>
            <a:p>
              <a:pPr algn="ctr"/>
              <a:r>
                <a:rPr lang="en-IN" b="1" dirty="0">
                  <a:latin typeface="Bookman Old Style" panose="02050604050505020204" pitchFamily="18" charset="0"/>
                </a:rPr>
                <a:t> </a:t>
              </a:r>
              <a:r>
                <a:rPr lang="en-IN" b="1" dirty="0">
                  <a:solidFill>
                    <a:schemeClr val="accent1">
                      <a:lumMod val="20000"/>
                      <a:lumOff val="80000"/>
                    </a:schemeClr>
                  </a:solidFill>
                  <a:latin typeface="Bookman Old Style" panose="02050604050505020204" pitchFamily="18" charset="0"/>
                </a:rPr>
                <a:t>FACULTY OF ENGINEERING AND TECHNOLOGY</a:t>
              </a:r>
            </a:p>
            <a:p>
              <a:pPr algn="ctr"/>
              <a:r>
                <a:rPr lang="en-IN" b="1" dirty="0">
                  <a:solidFill>
                    <a:schemeClr val="accent1">
                      <a:lumMod val="20000"/>
                      <a:lumOff val="80000"/>
                    </a:schemeClr>
                  </a:solidFill>
                  <a:latin typeface="Bookman Old Style" panose="02050604050505020204" pitchFamily="18" charset="0"/>
                </a:rPr>
                <a:t>(BGS INSTITUTE OF TECHNOLOGY)</a:t>
              </a:r>
            </a:p>
          </p:txBody>
        </p: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45859EE9-A91E-59A7-3247-D98C25C7513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7926" y="166850"/>
              <a:ext cx="800731" cy="923330"/>
            </a:xfrm>
            <a:prstGeom prst="ellipse">
              <a:avLst/>
            </a:prstGeom>
            <a:ln w="63500" cap="rnd">
              <a:solidFill>
                <a:srgbClr val="333333"/>
              </a:solidFill>
            </a:ln>
            <a:effectLst>
              <a:outerShdw blurRad="381000" dist="292100" dir="5400000" sx="-80000" sy="-18000" rotWithShape="0">
                <a:srgbClr val="000000">
                  <a:alpha val="22000"/>
                </a:srgbClr>
              </a:outerShdw>
            </a:effectLst>
            <a:scene3d>
              <a:camera prst="orthographicFront"/>
              <a:lightRig rig="contrasting" dir="t">
                <a:rot lat="0" lon="0" rev="3000000"/>
              </a:lightRig>
            </a:scene3d>
            <a:sp3d contourW="7620">
              <a:bevelT w="95250" h="31750"/>
              <a:contourClr>
                <a:srgbClr val="333333"/>
              </a:contourClr>
            </a:sp3d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F60A7DA2-7040-2AC6-B8B6-6A53E3E6224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915591" y="166850"/>
              <a:ext cx="800219" cy="923330"/>
            </a:xfrm>
            <a:prstGeom prst="ellipse">
              <a:avLst/>
            </a:prstGeom>
            <a:ln w="63500" cap="rnd">
              <a:solidFill>
                <a:srgbClr val="333333"/>
              </a:solidFill>
            </a:ln>
            <a:effectLst>
              <a:outerShdw blurRad="381000" dist="292100" dir="5400000" sx="-80000" sy="-18000" rotWithShape="0">
                <a:srgbClr val="000000">
                  <a:alpha val="22000"/>
                </a:srgbClr>
              </a:outerShdw>
            </a:effectLst>
            <a:scene3d>
              <a:camera prst="orthographicFront"/>
              <a:lightRig rig="contrasting" dir="t">
                <a:rot lat="0" lon="0" rev="3000000"/>
              </a:lightRig>
            </a:scene3d>
            <a:sp3d contourW="7620">
              <a:bevelT w="95250" h="31750"/>
              <a:contourClr>
                <a:srgbClr val="333333"/>
              </a:contourClr>
            </a:sp3d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14C03ED4-F0DD-49ED-7683-8261E916869B}"/>
                </a:ext>
              </a:extLst>
            </p:cNvPr>
            <p:cNvSpPr txBox="1"/>
            <p:nvPr/>
          </p:nvSpPr>
          <p:spPr>
            <a:xfrm>
              <a:off x="2486518" y="1016282"/>
              <a:ext cx="744855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1400" b="1" dirty="0">
                  <a:solidFill>
                    <a:schemeClr val="accent1">
                      <a:lumMod val="60000"/>
                      <a:lumOff val="40000"/>
                    </a:schemeClr>
                  </a:solidFill>
                  <a:latin typeface="Dubai" panose="020B0503030403030204" pitchFamily="34" charset="-78"/>
                  <a:cs typeface="Dubai" panose="020B0503030403030204" pitchFamily="34" charset="-78"/>
                </a:rPr>
                <a:t>BG Nagara, Nagamangala Taluk, Mandya District, Karnataka, India-571448</a:t>
              </a:r>
            </a:p>
            <a:p>
              <a:pPr algn="ctr"/>
              <a:r>
                <a:rPr lang="en-IN" sz="1400" b="1" dirty="0">
                  <a:solidFill>
                    <a:schemeClr val="accent1">
                      <a:lumMod val="60000"/>
                      <a:lumOff val="40000"/>
                    </a:schemeClr>
                  </a:solidFill>
                  <a:latin typeface="Dubai" panose="020B0503030403030204" pitchFamily="34" charset="-78"/>
                  <a:cs typeface="Dubai" panose="020B0503030403030204" pitchFamily="34" charset="-78"/>
                  <a:hlinkClick r:id="rId5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Tel: 08234-28841-419</a:t>
              </a:r>
              <a:r>
                <a:rPr lang="en-IN" sz="1400" b="1" dirty="0">
                  <a:solidFill>
                    <a:schemeClr val="accent1">
                      <a:lumMod val="60000"/>
                      <a:lumOff val="40000"/>
                    </a:schemeClr>
                  </a:solidFill>
                  <a:latin typeface="Dubai" panose="020B0503030403030204" pitchFamily="34" charset="-78"/>
                  <a:cs typeface="Dubai" panose="020B0503030403030204" pitchFamily="34" charset="-78"/>
                </a:rPr>
                <a:t>, Web: www.bgsit.ac.in</a:t>
              </a:r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895EBB1D-78C0-C314-F998-AAAF52E8188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clrChange>
                <a:clrFrom>
                  <a:srgbClr val="FAE4EB"/>
                </a:clrFrom>
                <a:clrTo>
                  <a:srgbClr val="FAE4EB">
                    <a:alpha val="0"/>
                  </a:srgbClr>
                </a:clrTo>
              </a:clrChange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saturation sat="4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986543" y="842113"/>
              <a:ext cx="712029" cy="663482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CBC41A2-854D-E494-7289-4EAF566295DE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19827" y="898545"/>
              <a:ext cx="615216" cy="607049"/>
            </a:xfrm>
            <a:prstGeom prst="rect">
              <a:avLst/>
            </a:prstGeom>
          </p:spPr>
        </p:pic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2F5DAF95-FFAC-13DD-CC36-C57D2707AE1B}"/>
                </a:ext>
              </a:extLst>
            </p:cNvPr>
            <p:cNvSpPr/>
            <p:nvPr/>
          </p:nvSpPr>
          <p:spPr>
            <a:xfrm>
              <a:off x="0" y="1539503"/>
              <a:ext cx="12192000" cy="4417871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sp>
        <p:nvSpPr>
          <p:cNvPr id="12" name="Google Shape;76;p15">
            <a:extLst>
              <a:ext uri="{FF2B5EF4-FFF2-40B4-BE49-F238E27FC236}">
                <a16:creationId xmlns:a16="http://schemas.microsoft.com/office/drawing/2014/main" id="{B1891FF7-45C5-B9F4-B07C-DED387254A08}"/>
              </a:ext>
            </a:extLst>
          </p:cNvPr>
          <p:cNvSpPr txBox="1"/>
          <p:nvPr/>
        </p:nvSpPr>
        <p:spPr>
          <a:xfrm>
            <a:off x="163368" y="1858814"/>
            <a:ext cx="9232559" cy="6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/>
            <a:r>
              <a:rPr lang="en-US" sz="3000" b="1" dirty="0">
                <a:solidFill>
                  <a:srgbClr val="002060"/>
                </a:solidFill>
                <a:latin typeface="Bookman Old Style" panose="02050604050505020204" pitchFamily="18" charset="0"/>
                <a:ea typeface="Georgia"/>
                <a:cs typeface="Dubai" panose="020B0503030403030204" pitchFamily="34" charset="-78"/>
                <a:sym typeface="Georgia"/>
              </a:rPr>
              <a:t>11.Results: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47AB094-4A56-37CF-CA88-25AF53F3DC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E5D90C-BE40-4037-AC5E-CD620FE48C47}" type="slidenum">
              <a:rPr lang="en-IN" smtClean="0"/>
              <a:t>14</a:t>
            </a:fld>
            <a:endParaRPr lang="en-IN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C6BE5104-378C-2C52-9D2A-172AAD94E3A9}"/>
              </a:ext>
            </a:extLst>
          </p:cNvPr>
          <p:cNvSpPr/>
          <p:nvPr/>
        </p:nvSpPr>
        <p:spPr>
          <a:xfrm>
            <a:off x="11407899" y="6176865"/>
            <a:ext cx="615821" cy="577939"/>
          </a:xfrm>
          <a:prstGeom prst="ellipse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13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32E62350-9F3D-95CE-B520-41FC71E0BE61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8219" y="2563512"/>
            <a:ext cx="5035216" cy="3499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E444FA0B-796D-DFFF-201A-6E8EC8FD3A1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71654" y="2563512"/>
            <a:ext cx="4878922" cy="3499475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5D9A1B4E-CAA4-6B10-C95B-9C6D3B9B8122}"/>
              </a:ext>
            </a:extLst>
          </p:cNvPr>
          <p:cNvSpPr txBox="1"/>
          <p:nvPr/>
        </p:nvSpPr>
        <p:spPr>
          <a:xfrm>
            <a:off x="1188658" y="6176865"/>
            <a:ext cx="34412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Figure 1: Side view of UGAV 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E88798B-575C-7ED8-FF89-DF40DE2FDC10}"/>
              </a:ext>
            </a:extLst>
          </p:cNvPr>
          <p:cNvSpPr txBox="1"/>
          <p:nvPr/>
        </p:nvSpPr>
        <p:spPr>
          <a:xfrm>
            <a:off x="7049444" y="6184892"/>
            <a:ext cx="38661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Figure 2: Top view of UGAV</a:t>
            </a:r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090149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07B2DC-2EC3-89D6-FCD6-4D31C45EF8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AD449CF2-9FF4-88D9-3698-24DF1ACE2492}"/>
              </a:ext>
            </a:extLst>
          </p:cNvPr>
          <p:cNvGrpSpPr/>
          <p:nvPr/>
        </p:nvGrpSpPr>
        <p:grpSpPr>
          <a:xfrm>
            <a:off x="0" y="33184"/>
            <a:ext cx="12192000" cy="6824816"/>
            <a:chOff x="0" y="33184"/>
            <a:chExt cx="12192000" cy="5924190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338A04E0-B9C2-C8D4-F39B-6B0FF4FBF92C}"/>
                </a:ext>
              </a:extLst>
            </p:cNvPr>
            <p:cNvSpPr txBox="1"/>
            <p:nvPr/>
          </p:nvSpPr>
          <p:spPr>
            <a:xfrm>
              <a:off x="2167719" y="33184"/>
              <a:ext cx="7818825" cy="97513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1100" b="1" dirty="0">
                  <a:solidFill>
                    <a:srgbClr val="FF9900"/>
                  </a:solidFill>
                  <a:latin typeface="Bookman Old Style" panose="02050604050505020204" pitchFamily="18" charset="0"/>
                </a:rPr>
                <a:t>|| Jai Sri  Gurudev||</a:t>
              </a:r>
            </a:p>
            <a:p>
              <a:pPr algn="ctr"/>
              <a:r>
                <a:rPr lang="en-IN" b="1" dirty="0">
                  <a:latin typeface="Bookman Old Style" panose="02050604050505020204" pitchFamily="18" charset="0"/>
                </a:rPr>
                <a:t> </a:t>
              </a:r>
              <a:r>
                <a:rPr lang="en-IN" sz="2000" b="1" dirty="0">
                  <a:latin typeface="Bookman Old Style" panose="02050604050505020204" pitchFamily="18" charset="0"/>
                </a:rPr>
                <a:t>ADICHUNCHANAGIRI UNIVERSITY</a:t>
              </a:r>
            </a:p>
            <a:p>
              <a:pPr algn="ctr"/>
              <a:r>
                <a:rPr lang="en-IN" b="1" dirty="0">
                  <a:latin typeface="Bookman Old Style" panose="02050604050505020204" pitchFamily="18" charset="0"/>
                </a:rPr>
                <a:t> </a:t>
              </a:r>
              <a:r>
                <a:rPr lang="en-IN" b="1" dirty="0">
                  <a:solidFill>
                    <a:schemeClr val="accent1">
                      <a:lumMod val="20000"/>
                      <a:lumOff val="80000"/>
                    </a:schemeClr>
                  </a:solidFill>
                  <a:latin typeface="Bookman Old Style" panose="02050604050505020204" pitchFamily="18" charset="0"/>
                </a:rPr>
                <a:t>FACULTY OF ENGINEERING AND TECHNOLOGY</a:t>
              </a:r>
            </a:p>
            <a:p>
              <a:pPr algn="ctr"/>
              <a:r>
                <a:rPr lang="en-IN" b="1" dirty="0">
                  <a:solidFill>
                    <a:schemeClr val="accent1">
                      <a:lumMod val="20000"/>
                      <a:lumOff val="80000"/>
                    </a:schemeClr>
                  </a:solidFill>
                  <a:latin typeface="Bookman Old Style" panose="02050604050505020204" pitchFamily="18" charset="0"/>
                </a:rPr>
                <a:t>(BGS INSTITUTE OF TECHNOLOGY)</a:t>
              </a:r>
            </a:p>
          </p:txBody>
        </p: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2C3C745C-85BB-6EB9-C9C4-8F2C52DA68E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7926" y="166850"/>
              <a:ext cx="800731" cy="923330"/>
            </a:xfrm>
            <a:prstGeom prst="ellipse">
              <a:avLst/>
            </a:prstGeom>
            <a:ln w="63500" cap="rnd">
              <a:solidFill>
                <a:srgbClr val="333333"/>
              </a:solidFill>
            </a:ln>
            <a:effectLst>
              <a:outerShdw blurRad="381000" dist="292100" dir="5400000" sx="-80000" sy="-18000" rotWithShape="0">
                <a:srgbClr val="000000">
                  <a:alpha val="22000"/>
                </a:srgbClr>
              </a:outerShdw>
            </a:effectLst>
            <a:scene3d>
              <a:camera prst="orthographicFront"/>
              <a:lightRig rig="contrasting" dir="t">
                <a:rot lat="0" lon="0" rev="3000000"/>
              </a:lightRig>
            </a:scene3d>
            <a:sp3d contourW="7620">
              <a:bevelT w="95250" h="31750"/>
              <a:contourClr>
                <a:srgbClr val="333333"/>
              </a:contourClr>
            </a:sp3d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00ABD4C1-C6EA-0499-0B52-D39ACE5E791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915591" y="166850"/>
              <a:ext cx="800219" cy="923330"/>
            </a:xfrm>
            <a:prstGeom prst="ellipse">
              <a:avLst/>
            </a:prstGeom>
            <a:ln w="63500" cap="rnd">
              <a:solidFill>
                <a:srgbClr val="333333"/>
              </a:solidFill>
            </a:ln>
            <a:effectLst>
              <a:outerShdw blurRad="381000" dist="292100" dir="5400000" sx="-80000" sy="-18000" rotWithShape="0">
                <a:srgbClr val="000000">
                  <a:alpha val="22000"/>
                </a:srgbClr>
              </a:outerShdw>
            </a:effectLst>
            <a:scene3d>
              <a:camera prst="orthographicFront"/>
              <a:lightRig rig="contrasting" dir="t">
                <a:rot lat="0" lon="0" rev="3000000"/>
              </a:lightRig>
            </a:scene3d>
            <a:sp3d contourW="7620">
              <a:bevelT w="95250" h="31750"/>
              <a:contourClr>
                <a:srgbClr val="333333"/>
              </a:contourClr>
            </a:sp3d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E575C25A-EC4C-E1E3-0C85-463A4D9D7522}"/>
                </a:ext>
              </a:extLst>
            </p:cNvPr>
            <p:cNvSpPr txBox="1"/>
            <p:nvPr/>
          </p:nvSpPr>
          <p:spPr>
            <a:xfrm>
              <a:off x="2486518" y="1016282"/>
              <a:ext cx="744855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1400" b="1" dirty="0">
                  <a:solidFill>
                    <a:schemeClr val="accent1">
                      <a:lumMod val="60000"/>
                      <a:lumOff val="40000"/>
                    </a:schemeClr>
                  </a:solidFill>
                  <a:latin typeface="Dubai" panose="020B0503030403030204" pitchFamily="34" charset="-78"/>
                  <a:cs typeface="Dubai" panose="020B0503030403030204" pitchFamily="34" charset="-78"/>
                </a:rPr>
                <a:t>BG Nagara, Nagamangala Taluk, Mandya District, Karnataka, India-571448</a:t>
              </a:r>
            </a:p>
            <a:p>
              <a:pPr algn="ctr"/>
              <a:r>
                <a:rPr lang="en-IN" sz="1400" b="1" dirty="0">
                  <a:solidFill>
                    <a:schemeClr val="accent1">
                      <a:lumMod val="60000"/>
                      <a:lumOff val="40000"/>
                    </a:schemeClr>
                  </a:solidFill>
                  <a:latin typeface="Dubai" panose="020B0503030403030204" pitchFamily="34" charset="-78"/>
                  <a:cs typeface="Dubai" panose="020B0503030403030204" pitchFamily="34" charset="-78"/>
                  <a:hlinkClick r:id="rId5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Tel: 08234-28841-419</a:t>
              </a:r>
              <a:r>
                <a:rPr lang="en-IN" sz="1400" b="1" dirty="0">
                  <a:solidFill>
                    <a:schemeClr val="accent1">
                      <a:lumMod val="60000"/>
                      <a:lumOff val="40000"/>
                    </a:schemeClr>
                  </a:solidFill>
                  <a:latin typeface="Dubai" panose="020B0503030403030204" pitchFamily="34" charset="-78"/>
                  <a:cs typeface="Dubai" panose="020B0503030403030204" pitchFamily="34" charset="-78"/>
                </a:rPr>
                <a:t>, Web: www.bgsit.ac.in</a:t>
              </a:r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6F894AE7-D900-EA4F-DD4D-FC4EDDE2C42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clrChange>
                <a:clrFrom>
                  <a:srgbClr val="FAE4EB"/>
                </a:clrFrom>
                <a:clrTo>
                  <a:srgbClr val="FAE4EB">
                    <a:alpha val="0"/>
                  </a:srgbClr>
                </a:clrTo>
              </a:clrChange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saturation sat="4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986543" y="842113"/>
              <a:ext cx="712029" cy="663482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2FA330A8-6BC4-60EA-3883-4E825E8DBE5B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19827" y="898545"/>
              <a:ext cx="615216" cy="607049"/>
            </a:xfrm>
            <a:prstGeom prst="rect">
              <a:avLst/>
            </a:prstGeom>
          </p:spPr>
        </p:pic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3C4BF484-FBDB-A3F4-2161-F61CF65CA1FC}"/>
                </a:ext>
              </a:extLst>
            </p:cNvPr>
            <p:cNvSpPr/>
            <p:nvPr/>
          </p:nvSpPr>
          <p:spPr>
            <a:xfrm>
              <a:off x="0" y="1539503"/>
              <a:ext cx="12192000" cy="4417871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D3A01EE-17F6-7781-6128-E3CBD4A320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E5D90C-BE40-4037-AC5E-CD620FE48C47}" type="slidenum">
              <a:rPr lang="en-IN" smtClean="0"/>
              <a:t>15</a:t>
            </a:fld>
            <a:endParaRPr lang="en-IN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D8F0B47E-E89D-1FD4-BBB9-822F46314576}"/>
              </a:ext>
            </a:extLst>
          </p:cNvPr>
          <p:cNvSpPr/>
          <p:nvPr/>
        </p:nvSpPr>
        <p:spPr>
          <a:xfrm>
            <a:off x="11407899" y="6176865"/>
            <a:ext cx="615821" cy="577939"/>
          </a:xfrm>
          <a:prstGeom prst="ellipse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14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FD3EEF3-72C4-F8CF-CC76-0EEF94EDE619}"/>
              </a:ext>
            </a:extLst>
          </p:cNvPr>
          <p:cNvSpPr txBox="1"/>
          <p:nvPr/>
        </p:nvSpPr>
        <p:spPr>
          <a:xfrm>
            <a:off x="995082" y="6211461"/>
            <a:ext cx="36348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Figure 3: Cleaning efficiency vs Time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67A1521-4059-5574-7CD0-33C1E9FD5F55}"/>
              </a:ext>
            </a:extLst>
          </p:cNvPr>
          <p:cNvSpPr txBox="1"/>
          <p:nvPr/>
        </p:nvSpPr>
        <p:spPr>
          <a:xfrm>
            <a:off x="6645408" y="6176866"/>
            <a:ext cx="4708392" cy="6543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Figure 4: Battery Consumption in Ground and Aerial mode</a:t>
            </a:r>
            <a:endParaRPr lang="en-IN" dirty="0">
              <a:solidFill>
                <a:schemeClr val="bg1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51F0030-D316-2FD2-A3FB-CBC57BD2431E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2247068"/>
            <a:ext cx="5818605" cy="383459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C63A1F04-B74A-25D4-DFBC-291611CF128A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18604" y="2272403"/>
            <a:ext cx="5897205" cy="388683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516731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D4B5E1-4660-1E43-927E-EFE527C1E0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2CE476BA-2594-F5BD-1E1F-63560AABB5DE}"/>
              </a:ext>
            </a:extLst>
          </p:cNvPr>
          <p:cNvGrpSpPr/>
          <p:nvPr/>
        </p:nvGrpSpPr>
        <p:grpSpPr>
          <a:xfrm>
            <a:off x="0" y="33184"/>
            <a:ext cx="12192000" cy="6824816"/>
            <a:chOff x="0" y="33184"/>
            <a:chExt cx="12192000" cy="5924190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78188D5B-1232-1384-4DE4-E9CB9B1FA0C0}"/>
                </a:ext>
              </a:extLst>
            </p:cNvPr>
            <p:cNvSpPr txBox="1"/>
            <p:nvPr/>
          </p:nvSpPr>
          <p:spPr>
            <a:xfrm>
              <a:off x="2167719" y="33184"/>
              <a:ext cx="7818825" cy="97513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1100" b="1" dirty="0">
                  <a:solidFill>
                    <a:srgbClr val="FF9900"/>
                  </a:solidFill>
                  <a:latin typeface="Bookman Old Style" panose="02050604050505020204" pitchFamily="18" charset="0"/>
                </a:rPr>
                <a:t>|| Jai Sri  Gurudev||</a:t>
              </a:r>
            </a:p>
            <a:p>
              <a:pPr algn="ctr"/>
              <a:r>
                <a:rPr lang="en-IN" b="1" dirty="0">
                  <a:latin typeface="Bookman Old Style" panose="02050604050505020204" pitchFamily="18" charset="0"/>
                </a:rPr>
                <a:t> </a:t>
              </a:r>
              <a:r>
                <a:rPr lang="en-IN" sz="2000" b="1" dirty="0">
                  <a:latin typeface="Bookman Old Style" panose="02050604050505020204" pitchFamily="18" charset="0"/>
                </a:rPr>
                <a:t>ADICHUNCHANAGIRI UNIVERSITY</a:t>
              </a:r>
            </a:p>
            <a:p>
              <a:pPr algn="ctr"/>
              <a:r>
                <a:rPr lang="en-IN" b="1" dirty="0">
                  <a:latin typeface="Bookman Old Style" panose="02050604050505020204" pitchFamily="18" charset="0"/>
                </a:rPr>
                <a:t> </a:t>
              </a:r>
              <a:r>
                <a:rPr lang="en-IN" b="1" dirty="0">
                  <a:solidFill>
                    <a:schemeClr val="accent1">
                      <a:lumMod val="20000"/>
                      <a:lumOff val="80000"/>
                    </a:schemeClr>
                  </a:solidFill>
                  <a:latin typeface="Bookman Old Style" panose="02050604050505020204" pitchFamily="18" charset="0"/>
                </a:rPr>
                <a:t>FACULTY OF ENGINEERING AND TECHNOLOGY</a:t>
              </a:r>
            </a:p>
            <a:p>
              <a:pPr algn="ctr"/>
              <a:r>
                <a:rPr lang="en-IN" b="1" dirty="0">
                  <a:solidFill>
                    <a:schemeClr val="accent1">
                      <a:lumMod val="20000"/>
                      <a:lumOff val="80000"/>
                    </a:schemeClr>
                  </a:solidFill>
                  <a:latin typeface="Bookman Old Style" panose="02050604050505020204" pitchFamily="18" charset="0"/>
                </a:rPr>
                <a:t>(BGS INSTITUTE OF TECHNOLOGY)</a:t>
              </a:r>
            </a:p>
          </p:txBody>
        </p: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D4688721-F7F6-B19C-60DA-DE92798E6EA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7926" y="166850"/>
              <a:ext cx="800731" cy="923330"/>
            </a:xfrm>
            <a:prstGeom prst="ellipse">
              <a:avLst/>
            </a:prstGeom>
            <a:ln w="63500" cap="rnd">
              <a:solidFill>
                <a:srgbClr val="333333"/>
              </a:solidFill>
            </a:ln>
            <a:effectLst>
              <a:outerShdw blurRad="381000" dist="292100" dir="5400000" sx="-80000" sy="-18000" rotWithShape="0">
                <a:srgbClr val="000000">
                  <a:alpha val="22000"/>
                </a:srgbClr>
              </a:outerShdw>
            </a:effectLst>
            <a:scene3d>
              <a:camera prst="orthographicFront"/>
              <a:lightRig rig="contrasting" dir="t">
                <a:rot lat="0" lon="0" rev="3000000"/>
              </a:lightRig>
            </a:scene3d>
            <a:sp3d contourW="7620">
              <a:bevelT w="95250" h="31750"/>
              <a:contourClr>
                <a:srgbClr val="333333"/>
              </a:contourClr>
            </a:sp3d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F4633DFA-2C5D-69B3-C6A1-5784398CEB0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915591" y="166850"/>
              <a:ext cx="800219" cy="923330"/>
            </a:xfrm>
            <a:prstGeom prst="ellipse">
              <a:avLst/>
            </a:prstGeom>
            <a:ln w="63500" cap="rnd">
              <a:solidFill>
                <a:srgbClr val="333333"/>
              </a:solidFill>
            </a:ln>
            <a:effectLst>
              <a:outerShdw blurRad="381000" dist="292100" dir="5400000" sx="-80000" sy="-18000" rotWithShape="0">
                <a:srgbClr val="000000">
                  <a:alpha val="22000"/>
                </a:srgbClr>
              </a:outerShdw>
            </a:effectLst>
            <a:scene3d>
              <a:camera prst="orthographicFront"/>
              <a:lightRig rig="contrasting" dir="t">
                <a:rot lat="0" lon="0" rev="3000000"/>
              </a:lightRig>
            </a:scene3d>
            <a:sp3d contourW="7620">
              <a:bevelT w="95250" h="31750"/>
              <a:contourClr>
                <a:srgbClr val="333333"/>
              </a:contourClr>
            </a:sp3d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61469C23-B400-6377-F6F1-634C5E53E3CC}"/>
                </a:ext>
              </a:extLst>
            </p:cNvPr>
            <p:cNvSpPr txBox="1"/>
            <p:nvPr/>
          </p:nvSpPr>
          <p:spPr>
            <a:xfrm>
              <a:off x="2486518" y="1016282"/>
              <a:ext cx="744855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1400" b="1" dirty="0">
                  <a:solidFill>
                    <a:schemeClr val="accent1">
                      <a:lumMod val="60000"/>
                      <a:lumOff val="40000"/>
                    </a:schemeClr>
                  </a:solidFill>
                  <a:latin typeface="Dubai" panose="020B0503030403030204" pitchFamily="34" charset="-78"/>
                  <a:cs typeface="Dubai" panose="020B0503030403030204" pitchFamily="34" charset="-78"/>
                </a:rPr>
                <a:t>BG Nagara, Nagamangala Taluk, Mandya District, Karnataka, India-571448</a:t>
              </a:r>
            </a:p>
            <a:p>
              <a:pPr algn="ctr"/>
              <a:r>
                <a:rPr lang="en-IN" sz="1400" b="1" dirty="0">
                  <a:solidFill>
                    <a:schemeClr val="accent1">
                      <a:lumMod val="60000"/>
                      <a:lumOff val="40000"/>
                    </a:schemeClr>
                  </a:solidFill>
                  <a:latin typeface="Dubai" panose="020B0503030403030204" pitchFamily="34" charset="-78"/>
                  <a:cs typeface="Dubai" panose="020B0503030403030204" pitchFamily="34" charset="-78"/>
                  <a:hlinkClick r:id="rId5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Tel: 08234-28841-419</a:t>
              </a:r>
              <a:r>
                <a:rPr lang="en-IN" sz="1400" b="1" dirty="0">
                  <a:solidFill>
                    <a:schemeClr val="accent1">
                      <a:lumMod val="60000"/>
                      <a:lumOff val="40000"/>
                    </a:schemeClr>
                  </a:solidFill>
                  <a:latin typeface="Dubai" panose="020B0503030403030204" pitchFamily="34" charset="-78"/>
                  <a:cs typeface="Dubai" panose="020B0503030403030204" pitchFamily="34" charset="-78"/>
                </a:rPr>
                <a:t>, Web: www.bgsit.ac.in</a:t>
              </a:r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8FF24763-2073-9834-8F43-3F7226F739B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clrChange>
                <a:clrFrom>
                  <a:srgbClr val="FAE4EB"/>
                </a:clrFrom>
                <a:clrTo>
                  <a:srgbClr val="FAE4EB">
                    <a:alpha val="0"/>
                  </a:srgbClr>
                </a:clrTo>
              </a:clrChange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saturation sat="4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986543" y="842113"/>
              <a:ext cx="712029" cy="663482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C16DBCE1-EBF1-39AF-149B-78D32F6A07D6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19827" y="898545"/>
              <a:ext cx="615216" cy="607049"/>
            </a:xfrm>
            <a:prstGeom prst="rect">
              <a:avLst/>
            </a:prstGeom>
          </p:spPr>
        </p:pic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68FDA47A-8749-24F7-47F5-62480AB3F9B0}"/>
                </a:ext>
              </a:extLst>
            </p:cNvPr>
            <p:cNvSpPr/>
            <p:nvPr/>
          </p:nvSpPr>
          <p:spPr>
            <a:xfrm>
              <a:off x="0" y="1539503"/>
              <a:ext cx="12192000" cy="4417871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sp>
        <p:nvSpPr>
          <p:cNvPr id="12" name="Google Shape;76;p15">
            <a:extLst>
              <a:ext uri="{FF2B5EF4-FFF2-40B4-BE49-F238E27FC236}">
                <a16:creationId xmlns:a16="http://schemas.microsoft.com/office/drawing/2014/main" id="{64FAA7C1-1AAE-0BE3-9E72-7955398E77D3}"/>
              </a:ext>
            </a:extLst>
          </p:cNvPr>
          <p:cNvSpPr txBox="1"/>
          <p:nvPr/>
        </p:nvSpPr>
        <p:spPr>
          <a:xfrm>
            <a:off x="184735" y="1691789"/>
            <a:ext cx="11784792" cy="12926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>
              <a:lnSpc>
                <a:spcPct val="150000"/>
              </a:lnSpc>
            </a:pPr>
            <a:r>
              <a:rPr lang="en-US" sz="3000" b="1" dirty="0">
                <a:solidFill>
                  <a:srgbClr val="002060"/>
                </a:solidFill>
                <a:latin typeface="Bookman Old Style" panose="02050604050505020204" pitchFamily="18" charset="0"/>
                <a:ea typeface="Georgia"/>
                <a:cs typeface="Dubai" panose="020B0503030403030204" pitchFamily="34" charset="-78"/>
                <a:sym typeface="Georgia"/>
              </a:rPr>
              <a:t>12.Advantages and Disadvantages</a:t>
            </a:r>
          </a:p>
          <a:p>
            <a:pPr lvl="0" algn="just">
              <a:lnSpc>
                <a:spcPct val="150000"/>
              </a:lnSpc>
            </a:pPr>
            <a:r>
              <a:rPr lang="en-US" dirty="0"/>
              <a:t>that ensures optimal energy distribution during operation. </a:t>
            </a:r>
            <a:endParaRPr lang="en-US" sz="3000" b="1" dirty="0">
              <a:solidFill>
                <a:srgbClr val="002060"/>
              </a:solidFill>
              <a:latin typeface="Bookman Old Style" panose="02050604050505020204" pitchFamily="18" charset="0"/>
              <a:ea typeface="Georgia"/>
              <a:cs typeface="Dubai" panose="020B0503030403030204" pitchFamily="34" charset="-78"/>
              <a:sym typeface="Georgia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1CAB020-0D78-B23E-DEFF-2BC0FDE62D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E5D90C-BE40-4037-AC5E-CD620FE48C47}" type="slidenum">
              <a:rPr lang="en-IN" smtClean="0"/>
              <a:t>16</a:t>
            </a:fld>
            <a:endParaRPr lang="en-IN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60419881-5508-B341-C4B9-B4D477F146AE}"/>
              </a:ext>
            </a:extLst>
          </p:cNvPr>
          <p:cNvSpPr/>
          <p:nvPr/>
        </p:nvSpPr>
        <p:spPr>
          <a:xfrm>
            <a:off x="11407899" y="6176865"/>
            <a:ext cx="615821" cy="577939"/>
          </a:xfrm>
          <a:prstGeom prst="ellipse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15</a:t>
            </a:r>
          </a:p>
        </p:txBody>
      </p:sp>
      <p:sp>
        <p:nvSpPr>
          <p:cNvPr id="14" name="Rectangle 2">
            <a:extLst>
              <a:ext uri="{FF2B5EF4-FFF2-40B4-BE49-F238E27FC236}">
                <a16:creationId xmlns:a16="http://schemas.microsoft.com/office/drawing/2014/main" id="{FA798E68-FCAF-0A53-FA31-0258DF03ED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609" y="2093876"/>
            <a:ext cx="6001391" cy="52661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ctr">
              <a:lnSpc>
                <a:spcPct val="150000"/>
              </a:lnSpc>
            </a:pPr>
            <a:r>
              <a:rPr lang="en-IN" sz="2800" b="1" dirty="0">
                <a:solidFill>
                  <a:schemeClr val="bg1"/>
                </a:solidFill>
              </a:rPr>
              <a:t>Advantages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</a:rPr>
              <a:t>Reduces human exposure to hazardous and contaminated waste environments.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</a:rPr>
              <a:t>Enables efficient and faster waste collection in hard-to-reach areas.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</a:rPr>
              <a:t>Improves cleanliness and sanitation through automated waste handling.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</a:rPr>
              <a:t>Provides real-time monitoring and remote operation for better control and safety.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</a:rPr>
              <a:t>Supports smart and sustainable waste management solutions.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9241CFB-AE41-7D76-16C9-EE82D9A1CB8A}"/>
              </a:ext>
            </a:extLst>
          </p:cNvPr>
          <p:cNvSpPr txBox="1"/>
          <p:nvPr/>
        </p:nvSpPr>
        <p:spPr>
          <a:xfrm>
            <a:off x="5984428" y="2296589"/>
            <a:ext cx="6228603" cy="33956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150000"/>
              </a:lnSpc>
            </a:pPr>
            <a:r>
              <a:rPr lang="en-IN" sz="2800" b="1" dirty="0">
                <a:solidFill>
                  <a:schemeClr val="bg1"/>
                </a:solidFill>
              </a:rPr>
              <a:t>Disadvantages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High initial cost for development and maintenance of the UGAV system.</a:t>
            </a:r>
            <a:endParaRPr lang="en-IN" dirty="0">
              <a:solidFill>
                <a:schemeClr val="bg1"/>
              </a:solidFill>
            </a:endParaRP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Limited battery life may reduce continuous operating time.</a:t>
            </a:r>
            <a:endParaRPr lang="en-IN" dirty="0">
              <a:solidFill>
                <a:schemeClr val="bg1"/>
              </a:solidFill>
            </a:endParaRP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Performance may be affected by strong winds and adverse weather conditions.</a:t>
            </a:r>
            <a:endParaRPr lang="en-IN" dirty="0">
              <a:solidFill>
                <a:schemeClr val="bg1"/>
              </a:solidFill>
            </a:endParaRPr>
          </a:p>
          <a:p>
            <a:pPr lvl="0" algn="ctr">
              <a:lnSpc>
                <a:spcPct val="150000"/>
              </a:lnSpc>
            </a:pPr>
            <a:endParaRPr lang="en-IN" sz="28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503939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FB0990-0D3F-DF3C-A26D-757737F253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652AEDE8-86D1-FD67-4A45-D5DCC84070EE}"/>
              </a:ext>
            </a:extLst>
          </p:cNvPr>
          <p:cNvGrpSpPr/>
          <p:nvPr/>
        </p:nvGrpSpPr>
        <p:grpSpPr>
          <a:xfrm>
            <a:off x="0" y="33184"/>
            <a:ext cx="12192000" cy="6824816"/>
            <a:chOff x="0" y="33184"/>
            <a:chExt cx="12192000" cy="5924190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21B1358A-9BB8-EF50-5A27-A8F896234108}"/>
                </a:ext>
              </a:extLst>
            </p:cNvPr>
            <p:cNvSpPr txBox="1"/>
            <p:nvPr/>
          </p:nvSpPr>
          <p:spPr>
            <a:xfrm>
              <a:off x="2167719" y="33184"/>
              <a:ext cx="7818825" cy="97513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1100" b="1" dirty="0">
                  <a:solidFill>
                    <a:srgbClr val="FF9900"/>
                  </a:solidFill>
                  <a:latin typeface="Bookman Old Style" panose="02050604050505020204" pitchFamily="18" charset="0"/>
                </a:rPr>
                <a:t>|| Jai Sri  Gurudev||</a:t>
              </a:r>
            </a:p>
            <a:p>
              <a:pPr algn="ctr"/>
              <a:r>
                <a:rPr lang="en-IN" b="1" dirty="0">
                  <a:latin typeface="Bookman Old Style" panose="02050604050505020204" pitchFamily="18" charset="0"/>
                </a:rPr>
                <a:t> </a:t>
              </a:r>
              <a:r>
                <a:rPr lang="en-IN" sz="2000" b="1" dirty="0">
                  <a:latin typeface="Bookman Old Style" panose="02050604050505020204" pitchFamily="18" charset="0"/>
                </a:rPr>
                <a:t>ADICHUNCHANAGIRI UNIVERSITY</a:t>
              </a:r>
            </a:p>
            <a:p>
              <a:pPr algn="ctr"/>
              <a:r>
                <a:rPr lang="en-IN" b="1" dirty="0">
                  <a:latin typeface="Bookman Old Style" panose="02050604050505020204" pitchFamily="18" charset="0"/>
                </a:rPr>
                <a:t> </a:t>
              </a:r>
              <a:r>
                <a:rPr lang="en-IN" b="1" dirty="0">
                  <a:solidFill>
                    <a:schemeClr val="accent1">
                      <a:lumMod val="20000"/>
                      <a:lumOff val="80000"/>
                    </a:schemeClr>
                  </a:solidFill>
                  <a:latin typeface="Bookman Old Style" panose="02050604050505020204" pitchFamily="18" charset="0"/>
                </a:rPr>
                <a:t>FACULTY OF ENGINEERING AND TECHNOLOGY</a:t>
              </a:r>
            </a:p>
            <a:p>
              <a:pPr algn="ctr"/>
              <a:r>
                <a:rPr lang="en-IN" b="1" dirty="0">
                  <a:solidFill>
                    <a:schemeClr val="accent1">
                      <a:lumMod val="20000"/>
                      <a:lumOff val="80000"/>
                    </a:schemeClr>
                  </a:solidFill>
                  <a:latin typeface="Bookman Old Style" panose="02050604050505020204" pitchFamily="18" charset="0"/>
                </a:rPr>
                <a:t>(BGS INSTITUTE OF TECHNOLOGY)</a:t>
              </a:r>
            </a:p>
          </p:txBody>
        </p: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726ED409-A618-1A55-D347-1AC0691E2F8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7926" y="166850"/>
              <a:ext cx="800731" cy="923330"/>
            </a:xfrm>
            <a:prstGeom prst="ellipse">
              <a:avLst/>
            </a:prstGeom>
            <a:ln w="63500" cap="rnd">
              <a:solidFill>
                <a:srgbClr val="333333"/>
              </a:solidFill>
            </a:ln>
            <a:effectLst>
              <a:outerShdw blurRad="381000" dist="292100" dir="5400000" sx="-80000" sy="-18000" rotWithShape="0">
                <a:srgbClr val="000000">
                  <a:alpha val="22000"/>
                </a:srgbClr>
              </a:outerShdw>
            </a:effectLst>
            <a:scene3d>
              <a:camera prst="orthographicFront"/>
              <a:lightRig rig="contrasting" dir="t">
                <a:rot lat="0" lon="0" rev="3000000"/>
              </a:lightRig>
            </a:scene3d>
            <a:sp3d contourW="7620">
              <a:bevelT w="95250" h="31750"/>
              <a:contourClr>
                <a:srgbClr val="333333"/>
              </a:contourClr>
            </a:sp3d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35317621-3B8C-1AF1-F6BA-1CA05C197DD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915591" y="166850"/>
              <a:ext cx="800219" cy="923330"/>
            </a:xfrm>
            <a:prstGeom prst="ellipse">
              <a:avLst/>
            </a:prstGeom>
            <a:ln w="63500" cap="rnd">
              <a:solidFill>
                <a:srgbClr val="333333"/>
              </a:solidFill>
            </a:ln>
            <a:effectLst>
              <a:outerShdw blurRad="381000" dist="292100" dir="5400000" sx="-80000" sy="-18000" rotWithShape="0">
                <a:srgbClr val="000000">
                  <a:alpha val="22000"/>
                </a:srgbClr>
              </a:outerShdw>
            </a:effectLst>
            <a:scene3d>
              <a:camera prst="orthographicFront"/>
              <a:lightRig rig="contrasting" dir="t">
                <a:rot lat="0" lon="0" rev="3000000"/>
              </a:lightRig>
            </a:scene3d>
            <a:sp3d contourW="7620">
              <a:bevelT w="95250" h="31750"/>
              <a:contourClr>
                <a:srgbClr val="333333"/>
              </a:contourClr>
            </a:sp3d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057B7460-E203-0AE2-6B19-74D342D76F2E}"/>
                </a:ext>
              </a:extLst>
            </p:cNvPr>
            <p:cNvSpPr txBox="1"/>
            <p:nvPr/>
          </p:nvSpPr>
          <p:spPr>
            <a:xfrm>
              <a:off x="2486518" y="1016282"/>
              <a:ext cx="744855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1400" b="1" dirty="0">
                  <a:solidFill>
                    <a:schemeClr val="accent1">
                      <a:lumMod val="60000"/>
                      <a:lumOff val="40000"/>
                    </a:schemeClr>
                  </a:solidFill>
                  <a:latin typeface="Dubai" panose="020B0503030403030204" pitchFamily="34" charset="-78"/>
                  <a:cs typeface="Dubai" panose="020B0503030403030204" pitchFamily="34" charset="-78"/>
                </a:rPr>
                <a:t>BG Nagara, Nagamangala Taluk, Mandya District, Karnataka, India-571448</a:t>
              </a:r>
            </a:p>
            <a:p>
              <a:pPr algn="ctr"/>
              <a:r>
                <a:rPr lang="en-IN" sz="1400" b="1" dirty="0">
                  <a:solidFill>
                    <a:schemeClr val="accent1">
                      <a:lumMod val="60000"/>
                      <a:lumOff val="40000"/>
                    </a:schemeClr>
                  </a:solidFill>
                  <a:latin typeface="Dubai" panose="020B0503030403030204" pitchFamily="34" charset="-78"/>
                  <a:cs typeface="Dubai" panose="020B0503030403030204" pitchFamily="34" charset="-78"/>
                  <a:hlinkClick r:id="rId5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Tel: 08234-28841-419</a:t>
              </a:r>
              <a:r>
                <a:rPr lang="en-IN" sz="1400" b="1" dirty="0">
                  <a:solidFill>
                    <a:schemeClr val="accent1">
                      <a:lumMod val="60000"/>
                      <a:lumOff val="40000"/>
                    </a:schemeClr>
                  </a:solidFill>
                  <a:latin typeface="Dubai" panose="020B0503030403030204" pitchFamily="34" charset="-78"/>
                  <a:cs typeface="Dubai" panose="020B0503030403030204" pitchFamily="34" charset="-78"/>
                </a:rPr>
                <a:t>, Web: www.bgsit.ac.in</a:t>
              </a:r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FF69B6-FF38-99A8-2D80-85F5FDDDBD9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clrChange>
                <a:clrFrom>
                  <a:srgbClr val="FAE4EB"/>
                </a:clrFrom>
                <a:clrTo>
                  <a:srgbClr val="FAE4EB">
                    <a:alpha val="0"/>
                  </a:srgbClr>
                </a:clrTo>
              </a:clrChange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saturation sat="4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986543" y="842113"/>
              <a:ext cx="712029" cy="663482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31DC3181-BBD8-86B0-2CCE-4D30355AB289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19827" y="898545"/>
              <a:ext cx="615216" cy="607049"/>
            </a:xfrm>
            <a:prstGeom prst="rect">
              <a:avLst/>
            </a:prstGeom>
          </p:spPr>
        </p:pic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55BD83D-2EC5-F1A7-F520-F17E7988634D}"/>
                </a:ext>
              </a:extLst>
            </p:cNvPr>
            <p:cNvSpPr/>
            <p:nvPr/>
          </p:nvSpPr>
          <p:spPr>
            <a:xfrm>
              <a:off x="0" y="1539503"/>
              <a:ext cx="12192000" cy="4417871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sp>
        <p:nvSpPr>
          <p:cNvPr id="12" name="Google Shape;76;p15">
            <a:extLst>
              <a:ext uri="{FF2B5EF4-FFF2-40B4-BE49-F238E27FC236}">
                <a16:creationId xmlns:a16="http://schemas.microsoft.com/office/drawing/2014/main" id="{41F8014B-30C4-A36E-3396-C320A38439D8}"/>
              </a:ext>
            </a:extLst>
          </p:cNvPr>
          <p:cNvSpPr txBox="1"/>
          <p:nvPr/>
        </p:nvSpPr>
        <p:spPr>
          <a:xfrm>
            <a:off x="184735" y="1691789"/>
            <a:ext cx="11784792" cy="12926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>
              <a:lnSpc>
                <a:spcPct val="150000"/>
              </a:lnSpc>
            </a:pPr>
            <a:r>
              <a:rPr lang="en-US" sz="3000" b="1" dirty="0">
                <a:solidFill>
                  <a:srgbClr val="002060"/>
                </a:solidFill>
                <a:latin typeface="Bookman Old Style" panose="02050604050505020204" pitchFamily="18" charset="0"/>
                <a:ea typeface="Georgia"/>
                <a:cs typeface="Dubai" panose="020B0503030403030204" pitchFamily="34" charset="-78"/>
                <a:sym typeface="Georgia"/>
              </a:rPr>
              <a:t>13.Applications:</a:t>
            </a:r>
          </a:p>
          <a:p>
            <a:pPr lvl="0" algn="just">
              <a:lnSpc>
                <a:spcPct val="150000"/>
              </a:lnSpc>
            </a:pPr>
            <a:r>
              <a:rPr lang="en-US" dirty="0"/>
              <a:t>that ensures optimal energy distribution during operation. </a:t>
            </a:r>
            <a:endParaRPr lang="en-US" sz="3000" b="1" dirty="0">
              <a:solidFill>
                <a:srgbClr val="002060"/>
              </a:solidFill>
              <a:latin typeface="Bookman Old Style" panose="02050604050505020204" pitchFamily="18" charset="0"/>
              <a:ea typeface="Georgia"/>
              <a:cs typeface="Dubai" panose="020B0503030403030204" pitchFamily="34" charset="-78"/>
              <a:sym typeface="Georgia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6A2FE2A-11F7-9638-E606-F2EEA6C0BA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E5D90C-BE40-4037-AC5E-CD620FE48C47}" type="slidenum">
              <a:rPr lang="en-IN" smtClean="0"/>
              <a:t>17</a:t>
            </a:fld>
            <a:endParaRPr lang="en-IN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409DA2D4-F48A-7A44-7D2C-F4292C5581C6}"/>
              </a:ext>
            </a:extLst>
          </p:cNvPr>
          <p:cNvSpPr/>
          <p:nvPr/>
        </p:nvSpPr>
        <p:spPr>
          <a:xfrm>
            <a:off x="11407899" y="6176865"/>
            <a:ext cx="615821" cy="577939"/>
          </a:xfrm>
          <a:prstGeom prst="ellipse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16</a:t>
            </a:r>
          </a:p>
        </p:txBody>
      </p:sp>
      <p:sp>
        <p:nvSpPr>
          <p:cNvPr id="14" name="Rectangle 2">
            <a:extLst>
              <a:ext uri="{FF2B5EF4-FFF2-40B4-BE49-F238E27FC236}">
                <a16:creationId xmlns:a16="http://schemas.microsoft.com/office/drawing/2014/main" id="{EE51E98F-F039-0E2A-15DD-4A491258EA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8455" y="2608487"/>
            <a:ext cx="11657351" cy="33387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lvl="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</a:rPr>
              <a:t>Waste collection and disposal in urban and public areas. </a:t>
            </a:r>
          </a:p>
          <a:p>
            <a:pPr marL="285750" lvl="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</a:rPr>
              <a:t>Cleaning operations in hazardous industrial environments. </a:t>
            </a:r>
          </a:p>
          <a:p>
            <a:pPr marL="285750" lvl="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</a:rPr>
              <a:t>Disaster management and waste removal in affected zones. </a:t>
            </a:r>
          </a:p>
          <a:p>
            <a:pPr marL="285750" lvl="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</a:rPr>
              <a:t>Can be deployed in hospitals, railway stations, and smart cities. </a:t>
            </a:r>
          </a:p>
          <a:p>
            <a:pPr marL="285750" lvl="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</a:rPr>
              <a:t>Remote cleaning and monitoring in military or restricted areas.</a:t>
            </a:r>
          </a:p>
          <a:p>
            <a:pPr marL="285750" lvl="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76676040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0EAECF-7510-9BE7-ED5B-6379E438EB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82D31D14-8D17-C785-696F-77542949A3C8}"/>
              </a:ext>
            </a:extLst>
          </p:cNvPr>
          <p:cNvGrpSpPr/>
          <p:nvPr/>
        </p:nvGrpSpPr>
        <p:grpSpPr>
          <a:xfrm>
            <a:off x="0" y="33184"/>
            <a:ext cx="12192000" cy="6824816"/>
            <a:chOff x="0" y="33184"/>
            <a:chExt cx="12192000" cy="5924190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3EA0346C-AD91-7EC4-6BF6-45995457A06E}"/>
                </a:ext>
              </a:extLst>
            </p:cNvPr>
            <p:cNvSpPr txBox="1"/>
            <p:nvPr/>
          </p:nvSpPr>
          <p:spPr>
            <a:xfrm>
              <a:off x="2167719" y="33184"/>
              <a:ext cx="7818825" cy="97513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1100" b="1" dirty="0">
                  <a:solidFill>
                    <a:srgbClr val="FF9900"/>
                  </a:solidFill>
                  <a:latin typeface="Bookman Old Style" panose="02050604050505020204" pitchFamily="18" charset="0"/>
                </a:rPr>
                <a:t>|| Jai Sri  Gurudev||</a:t>
              </a:r>
            </a:p>
            <a:p>
              <a:pPr algn="ctr"/>
              <a:r>
                <a:rPr lang="en-IN" b="1" dirty="0">
                  <a:latin typeface="Bookman Old Style" panose="02050604050505020204" pitchFamily="18" charset="0"/>
                </a:rPr>
                <a:t> </a:t>
              </a:r>
              <a:r>
                <a:rPr lang="en-IN" sz="2000" b="1" dirty="0">
                  <a:latin typeface="Bookman Old Style" panose="02050604050505020204" pitchFamily="18" charset="0"/>
                </a:rPr>
                <a:t>ADICHUNCHANAGIRI UNIVERSITY</a:t>
              </a:r>
            </a:p>
            <a:p>
              <a:pPr algn="ctr"/>
              <a:r>
                <a:rPr lang="en-IN" b="1" dirty="0">
                  <a:latin typeface="Bookman Old Style" panose="02050604050505020204" pitchFamily="18" charset="0"/>
                </a:rPr>
                <a:t> </a:t>
              </a:r>
              <a:r>
                <a:rPr lang="en-IN" b="1" dirty="0">
                  <a:solidFill>
                    <a:schemeClr val="accent1">
                      <a:lumMod val="20000"/>
                      <a:lumOff val="80000"/>
                    </a:schemeClr>
                  </a:solidFill>
                  <a:latin typeface="Bookman Old Style" panose="02050604050505020204" pitchFamily="18" charset="0"/>
                </a:rPr>
                <a:t>FACULTY OF ENGINEERING AND TECHNOLOGY</a:t>
              </a:r>
            </a:p>
            <a:p>
              <a:pPr algn="ctr"/>
              <a:r>
                <a:rPr lang="en-IN" b="1" dirty="0">
                  <a:solidFill>
                    <a:schemeClr val="accent1">
                      <a:lumMod val="20000"/>
                      <a:lumOff val="80000"/>
                    </a:schemeClr>
                  </a:solidFill>
                  <a:latin typeface="Bookman Old Style" panose="02050604050505020204" pitchFamily="18" charset="0"/>
                </a:rPr>
                <a:t>(BGS INSTITUTE OF TECHNOLOGY)</a:t>
              </a:r>
            </a:p>
          </p:txBody>
        </p: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EBCBFB62-D663-0818-DAEE-CBFAD4FC145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7926" y="166850"/>
              <a:ext cx="800731" cy="923330"/>
            </a:xfrm>
            <a:prstGeom prst="ellipse">
              <a:avLst/>
            </a:prstGeom>
            <a:ln w="63500" cap="rnd">
              <a:solidFill>
                <a:srgbClr val="333333"/>
              </a:solidFill>
            </a:ln>
            <a:effectLst>
              <a:outerShdw blurRad="381000" dist="292100" dir="5400000" sx="-80000" sy="-18000" rotWithShape="0">
                <a:srgbClr val="000000">
                  <a:alpha val="22000"/>
                </a:srgbClr>
              </a:outerShdw>
            </a:effectLst>
            <a:scene3d>
              <a:camera prst="orthographicFront"/>
              <a:lightRig rig="contrasting" dir="t">
                <a:rot lat="0" lon="0" rev="3000000"/>
              </a:lightRig>
            </a:scene3d>
            <a:sp3d contourW="7620">
              <a:bevelT w="95250" h="31750"/>
              <a:contourClr>
                <a:srgbClr val="333333"/>
              </a:contourClr>
            </a:sp3d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1BB62AC5-25DF-8287-795A-7A47150CABE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915591" y="166850"/>
              <a:ext cx="800219" cy="923330"/>
            </a:xfrm>
            <a:prstGeom prst="ellipse">
              <a:avLst/>
            </a:prstGeom>
            <a:ln w="63500" cap="rnd">
              <a:solidFill>
                <a:srgbClr val="333333"/>
              </a:solidFill>
            </a:ln>
            <a:effectLst>
              <a:outerShdw blurRad="381000" dist="292100" dir="5400000" sx="-80000" sy="-18000" rotWithShape="0">
                <a:srgbClr val="000000">
                  <a:alpha val="22000"/>
                </a:srgbClr>
              </a:outerShdw>
            </a:effectLst>
            <a:scene3d>
              <a:camera prst="orthographicFront"/>
              <a:lightRig rig="contrasting" dir="t">
                <a:rot lat="0" lon="0" rev="3000000"/>
              </a:lightRig>
            </a:scene3d>
            <a:sp3d contourW="7620">
              <a:bevelT w="95250" h="31750"/>
              <a:contourClr>
                <a:srgbClr val="333333"/>
              </a:contourClr>
            </a:sp3d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3011D8B0-C29E-3B43-FF6C-5E758144CB63}"/>
                </a:ext>
              </a:extLst>
            </p:cNvPr>
            <p:cNvSpPr txBox="1"/>
            <p:nvPr/>
          </p:nvSpPr>
          <p:spPr>
            <a:xfrm>
              <a:off x="2486518" y="1016282"/>
              <a:ext cx="744855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1400" b="1" dirty="0">
                  <a:solidFill>
                    <a:schemeClr val="accent1">
                      <a:lumMod val="60000"/>
                      <a:lumOff val="40000"/>
                    </a:schemeClr>
                  </a:solidFill>
                  <a:latin typeface="Dubai" panose="020B0503030403030204" pitchFamily="34" charset="-78"/>
                  <a:cs typeface="Dubai" panose="020B0503030403030204" pitchFamily="34" charset="-78"/>
                </a:rPr>
                <a:t>BG Nagara, Nagamangala Taluk, Mandya District, Karnataka, India-571448</a:t>
              </a:r>
            </a:p>
            <a:p>
              <a:pPr algn="ctr"/>
              <a:r>
                <a:rPr lang="en-IN" sz="1400" b="1" dirty="0">
                  <a:solidFill>
                    <a:schemeClr val="accent1">
                      <a:lumMod val="60000"/>
                      <a:lumOff val="40000"/>
                    </a:schemeClr>
                  </a:solidFill>
                  <a:latin typeface="Dubai" panose="020B0503030403030204" pitchFamily="34" charset="-78"/>
                  <a:cs typeface="Dubai" panose="020B0503030403030204" pitchFamily="34" charset="-78"/>
                  <a:hlinkClick r:id="rId5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Tel: 08234-28841-419</a:t>
              </a:r>
              <a:r>
                <a:rPr lang="en-IN" sz="1400" b="1" dirty="0">
                  <a:solidFill>
                    <a:schemeClr val="accent1">
                      <a:lumMod val="60000"/>
                      <a:lumOff val="40000"/>
                    </a:schemeClr>
                  </a:solidFill>
                  <a:latin typeface="Dubai" panose="020B0503030403030204" pitchFamily="34" charset="-78"/>
                  <a:cs typeface="Dubai" panose="020B0503030403030204" pitchFamily="34" charset="-78"/>
                </a:rPr>
                <a:t>, Web: www.bgsit.ac.in</a:t>
              </a:r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CD26496A-605F-2979-799A-011E2E6FF48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clrChange>
                <a:clrFrom>
                  <a:srgbClr val="FAE4EB"/>
                </a:clrFrom>
                <a:clrTo>
                  <a:srgbClr val="FAE4EB">
                    <a:alpha val="0"/>
                  </a:srgbClr>
                </a:clrTo>
              </a:clrChange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saturation sat="4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986543" y="842113"/>
              <a:ext cx="712029" cy="663482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FB47C1BF-ED57-14E6-AC51-1063FB33805A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19827" y="898545"/>
              <a:ext cx="615216" cy="607049"/>
            </a:xfrm>
            <a:prstGeom prst="rect">
              <a:avLst/>
            </a:prstGeom>
          </p:spPr>
        </p:pic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1491719E-3881-1102-E8A7-140A3EDEB17D}"/>
                </a:ext>
              </a:extLst>
            </p:cNvPr>
            <p:cNvSpPr/>
            <p:nvPr/>
          </p:nvSpPr>
          <p:spPr>
            <a:xfrm>
              <a:off x="0" y="1539503"/>
              <a:ext cx="12192000" cy="4417871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sp>
        <p:nvSpPr>
          <p:cNvPr id="12" name="Google Shape;76;p15">
            <a:extLst>
              <a:ext uri="{FF2B5EF4-FFF2-40B4-BE49-F238E27FC236}">
                <a16:creationId xmlns:a16="http://schemas.microsoft.com/office/drawing/2014/main" id="{F6003FEC-FF62-C187-AA22-E6A790B80547}"/>
              </a:ext>
            </a:extLst>
          </p:cNvPr>
          <p:cNvSpPr txBox="1"/>
          <p:nvPr/>
        </p:nvSpPr>
        <p:spPr>
          <a:xfrm>
            <a:off x="184735" y="1691789"/>
            <a:ext cx="11784792" cy="12926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>
              <a:lnSpc>
                <a:spcPct val="150000"/>
              </a:lnSpc>
            </a:pPr>
            <a:r>
              <a:rPr lang="en-US" sz="3000" b="1" dirty="0">
                <a:solidFill>
                  <a:srgbClr val="002060"/>
                </a:solidFill>
                <a:latin typeface="Bookman Old Style" panose="02050604050505020204" pitchFamily="18" charset="0"/>
                <a:ea typeface="Georgia"/>
                <a:cs typeface="Dubai" panose="020B0503030403030204" pitchFamily="34" charset="-78"/>
                <a:sym typeface="Georgia"/>
              </a:rPr>
              <a:t>14.Conclusion:</a:t>
            </a:r>
          </a:p>
          <a:p>
            <a:pPr lvl="0" algn="just">
              <a:lnSpc>
                <a:spcPct val="150000"/>
              </a:lnSpc>
            </a:pPr>
            <a:r>
              <a:rPr lang="en-US" dirty="0"/>
              <a:t>that ensures optimal energy distribution during operation. </a:t>
            </a:r>
            <a:endParaRPr lang="en-US" sz="3000" b="1" dirty="0">
              <a:solidFill>
                <a:srgbClr val="002060"/>
              </a:solidFill>
              <a:latin typeface="Bookman Old Style" panose="02050604050505020204" pitchFamily="18" charset="0"/>
              <a:ea typeface="Georgia"/>
              <a:cs typeface="Dubai" panose="020B0503030403030204" pitchFamily="34" charset="-78"/>
              <a:sym typeface="Georgia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A6E65F5-E6BE-72B0-D287-A39AB92214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E5D90C-BE40-4037-AC5E-CD620FE48C47}" type="slidenum">
              <a:rPr lang="en-IN" smtClean="0"/>
              <a:t>18</a:t>
            </a:fld>
            <a:endParaRPr lang="en-IN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A98CB74C-BAB8-B751-416B-1B1E7454A19A}"/>
              </a:ext>
            </a:extLst>
          </p:cNvPr>
          <p:cNvSpPr/>
          <p:nvPr/>
        </p:nvSpPr>
        <p:spPr>
          <a:xfrm>
            <a:off x="11407899" y="6176865"/>
            <a:ext cx="615821" cy="577939"/>
          </a:xfrm>
          <a:prstGeom prst="ellipse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17</a:t>
            </a:r>
          </a:p>
        </p:txBody>
      </p:sp>
      <p:sp>
        <p:nvSpPr>
          <p:cNvPr id="14" name="Rectangle 2">
            <a:extLst>
              <a:ext uri="{FF2B5EF4-FFF2-40B4-BE49-F238E27FC236}">
                <a16:creationId xmlns:a16="http://schemas.microsoft.com/office/drawing/2014/main" id="{F81C05FF-2062-B15B-CCD4-866078B640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8455" y="2383424"/>
            <a:ext cx="11657351" cy="37888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 Remote-controlled UAVs help make waste disposal easier and faster by reaching places that are hard or unsafe for people to clean, such as high areas or polluted zones.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 They keep workers safe because there is no need for them to touch or go near dangerous or harmful waste materials. 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 Using UAVs can save both time and money since they can collect, monitor, and move waste without needing many workers.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 These UAVs also help keep the environment clean by reducing illegal dumping and ensuring that waste is properly handled and disposed off.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 In the future, adding smart technologies like sensors and artificial intelligence can make UAVs even more effective for safe and smart waste management.</a:t>
            </a:r>
          </a:p>
        </p:txBody>
      </p:sp>
    </p:spTree>
    <p:extLst>
      <p:ext uri="{BB962C8B-B14F-4D97-AF65-F5344CB8AC3E}">
        <p14:creationId xmlns:p14="http://schemas.microsoft.com/office/powerpoint/2010/main" val="387206747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25AFBF-7C41-9E47-A881-EBA4BEE0D8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CFEED168-E342-181C-85C8-FA71B8033ABE}"/>
              </a:ext>
            </a:extLst>
          </p:cNvPr>
          <p:cNvGrpSpPr/>
          <p:nvPr/>
        </p:nvGrpSpPr>
        <p:grpSpPr>
          <a:xfrm>
            <a:off x="0" y="33184"/>
            <a:ext cx="12192000" cy="6824816"/>
            <a:chOff x="0" y="33184"/>
            <a:chExt cx="12192000" cy="5924190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7BDDC7F9-FFFD-B84C-BADC-36F05A571023}"/>
                </a:ext>
              </a:extLst>
            </p:cNvPr>
            <p:cNvSpPr txBox="1"/>
            <p:nvPr/>
          </p:nvSpPr>
          <p:spPr>
            <a:xfrm>
              <a:off x="2167719" y="33184"/>
              <a:ext cx="7818825" cy="97513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1100" b="1" dirty="0">
                  <a:solidFill>
                    <a:srgbClr val="FF9900"/>
                  </a:solidFill>
                  <a:latin typeface="Bookman Old Style" panose="02050604050505020204" pitchFamily="18" charset="0"/>
                </a:rPr>
                <a:t>|| Jai Sri  Gurudev||</a:t>
              </a:r>
            </a:p>
            <a:p>
              <a:pPr algn="ctr"/>
              <a:r>
                <a:rPr lang="en-IN" b="1" dirty="0">
                  <a:latin typeface="Bookman Old Style" panose="02050604050505020204" pitchFamily="18" charset="0"/>
                </a:rPr>
                <a:t> </a:t>
              </a:r>
              <a:r>
                <a:rPr lang="en-IN" sz="2000" b="1" dirty="0">
                  <a:latin typeface="Bookman Old Style" panose="02050604050505020204" pitchFamily="18" charset="0"/>
                </a:rPr>
                <a:t>ADICHUNCHANAGIRI UNIVERSITY</a:t>
              </a:r>
            </a:p>
            <a:p>
              <a:pPr algn="ctr"/>
              <a:r>
                <a:rPr lang="en-IN" b="1" dirty="0">
                  <a:latin typeface="Bookman Old Style" panose="02050604050505020204" pitchFamily="18" charset="0"/>
                </a:rPr>
                <a:t> </a:t>
              </a:r>
              <a:r>
                <a:rPr lang="en-IN" b="1" dirty="0">
                  <a:solidFill>
                    <a:schemeClr val="accent1">
                      <a:lumMod val="20000"/>
                      <a:lumOff val="80000"/>
                    </a:schemeClr>
                  </a:solidFill>
                  <a:latin typeface="Bookman Old Style" panose="02050604050505020204" pitchFamily="18" charset="0"/>
                </a:rPr>
                <a:t>FACULTY OF ENGINEERING AND TECHNOLOGY</a:t>
              </a:r>
            </a:p>
            <a:p>
              <a:pPr algn="ctr"/>
              <a:r>
                <a:rPr lang="en-IN" b="1" dirty="0">
                  <a:solidFill>
                    <a:schemeClr val="accent1">
                      <a:lumMod val="20000"/>
                      <a:lumOff val="80000"/>
                    </a:schemeClr>
                  </a:solidFill>
                  <a:latin typeface="Bookman Old Style" panose="02050604050505020204" pitchFamily="18" charset="0"/>
                </a:rPr>
                <a:t>(BGS INSTITUTE OF TECHNOLOGY)</a:t>
              </a:r>
            </a:p>
          </p:txBody>
        </p: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EF4D35DF-E6BD-F319-3814-93298F27D33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7926" y="166850"/>
              <a:ext cx="800731" cy="923330"/>
            </a:xfrm>
            <a:prstGeom prst="ellipse">
              <a:avLst/>
            </a:prstGeom>
            <a:ln w="63500" cap="rnd">
              <a:solidFill>
                <a:srgbClr val="333333"/>
              </a:solidFill>
            </a:ln>
            <a:effectLst>
              <a:outerShdw blurRad="381000" dist="292100" dir="5400000" sx="-80000" sy="-18000" rotWithShape="0">
                <a:srgbClr val="000000">
                  <a:alpha val="22000"/>
                </a:srgbClr>
              </a:outerShdw>
            </a:effectLst>
            <a:scene3d>
              <a:camera prst="orthographicFront"/>
              <a:lightRig rig="contrasting" dir="t">
                <a:rot lat="0" lon="0" rev="3000000"/>
              </a:lightRig>
            </a:scene3d>
            <a:sp3d contourW="7620">
              <a:bevelT w="95250" h="31750"/>
              <a:contourClr>
                <a:srgbClr val="333333"/>
              </a:contourClr>
            </a:sp3d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2791B7B5-6CDD-5896-8042-A3524F724D8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915591" y="166850"/>
              <a:ext cx="800219" cy="923330"/>
            </a:xfrm>
            <a:prstGeom prst="ellipse">
              <a:avLst/>
            </a:prstGeom>
            <a:ln w="63500" cap="rnd">
              <a:solidFill>
                <a:srgbClr val="333333"/>
              </a:solidFill>
            </a:ln>
            <a:effectLst>
              <a:outerShdw blurRad="381000" dist="292100" dir="5400000" sx="-80000" sy="-18000" rotWithShape="0">
                <a:srgbClr val="000000">
                  <a:alpha val="22000"/>
                </a:srgbClr>
              </a:outerShdw>
            </a:effectLst>
            <a:scene3d>
              <a:camera prst="orthographicFront"/>
              <a:lightRig rig="contrasting" dir="t">
                <a:rot lat="0" lon="0" rev="3000000"/>
              </a:lightRig>
            </a:scene3d>
            <a:sp3d contourW="7620">
              <a:bevelT w="95250" h="31750"/>
              <a:contourClr>
                <a:srgbClr val="333333"/>
              </a:contourClr>
            </a:sp3d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46E0755C-1B5F-985E-E201-E47CAEAD8908}"/>
                </a:ext>
              </a:extLst>
            </p:cNvPr>
            <p:cNvSpPr txBox="1"/>
            <p:nvPr/>
          </p:nvSpPr>
          <p:spPr>
            <a:xfrm>
              <a:off x="2486518" y="1016282"/>
              <a:ext cx="744855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1400" b="1" dirty="0">
                  <a:solidFill>
                    <a:schemeClr val="accent1">
                      <a:lumMod val="60000"/>
                      <a:lumOff val="40000"/>
                    </a:schemeClr>
                  </a:solidFill>
                  <a:latin typeface="Dubai" panose="020B0503030403030204" pitchFamily="34" charset="-78"/>
                  <a:cs typeface="Dubai" panose="020B0503030403030204" pitchFamily="34" charset="-78"/>
                </a:rPr>
                <a:t>BG Nagara, Nagamangala Taluk, Mandya District, Karnataka, India-571448</a:t>
              </a:r>
            </a:p>
            <a:p>
              <a:pPr algn="ctr"/>
              <a:r>
                <a:rPr lang="en-IN" sz="1400" b="1" dirty="0">
                  <a:solidFill>
                    <a:schemeClr val="accent1">
                      <a:lumMod val="60000"/>
                      <a:lumOff val="40000"/>
                    </a:schemeClr>
                  </a:solidFill>
                  <a:latin typeface="Dubai" panose="020B0503030403030204" pitchFamily="34" charset="-78"/>
                  <a:cs typeface="Dubai" panose="020B0503030403030204" pitchFamily="34" charset="-78"/>
                  <a:hlinkClick r:id="rId5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Tel: 08234-28841-419</a:t>
              </a:r>
              <a:r>
                <a:rPr lang="en-IN" sz="1400" b="1" dirty="0">
                  <a:solidFill>
                    <a:schemeClr val="accent1">
                      <a:lumMod val="60000"/>
                      <a:lumOff val="40000"/>
                    </a:schemeClr>
                  </a:solidFill>
                  <a:latin typeface="Dubai" panose="020B0503030403030204" pitchFamily="34" charset="-78"/>
                  <a:cs typeface="Dubai" panose="020B0503030403030204" pitchFamily="34" charset="-78"/>
                </a:rPr>
                <a:t>, Web: www.bgsit.ac.in</a:t>
              </a:r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0F0BF5F5-81F1-DF88-64C6-FE0915B34A7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clrChange>
                <a:clrFrom>
                  <a:srgbClr val="FAE4EB"/>
                </a:clrFrom>
                <a:clrTo>
                  <a:srgbClr val="FAE4EB">
                    <a:alpha val="0"/>
                  </a:srgbClr>
                </a:clrTo>
              </a:clrChange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saturation sat="4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986543" y="842113"/>
              <a:ext cx="712029" cy="663482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1B88D0F0-0384-355F-FF3F-BB5C4D8F1192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19827" y="898545"/>
              <a:ext cx="615216" cy="607049"/>
            </a:xfrm>
            <a:prstGeom prst="rect">
              <a:avLst/>
            </a:prstGeom>
          </p:spPr>
        </p:pic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E4AFFD18-5A3C-B923-D210-37A6C13B80D4}"/>
                </a:ext>
              </a:extLst>
            </p:cNvPr>
            <p:cNvSpPr/>
            <p:nvPr/>
          </p:nvSpPr>
          <p:spPr>
            <a:xfrm>
              <a:off x="0" y="1539503"/>
              <a:ext cx="12192000" cy="4417871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sp>
        <p:nvSpPr>
          <p:cNvPr id="12" name="Google Shape;76;p15">
            <a:extLst>
              <a:ext uri="{FF2B5EF4-FFF2-40B4-BE49-F238E27FC236}">
                <a16:creationId xmlns:a16="http://schemas.microsoft.com/office/drawing/2014/main" id="{E71B8949-7CB5-3139-542C-CED49400EBFC}"/>
              </a:ext>
            </a:extLst>
          </p:cNvPr>
          <p:cNvSpPr txBox="1"/>
          <p:nvPr/>
        </p:nvSpPr>
        <p:spPr>
          <a:xfrm>
            <a:off x="184735" y="1691789"/>
            <a:ext cx="11784792" cy="12926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>
              <a:lnSpc>
                <a:spcPct val="150000"/>
              </a:lnSpc>
            </a:pPr>
            <a:r>
              <a:rPr lang="en-US" sz="3000" b="1" dirty="0">
                <a:solidFill>
                  <a:srgbClr val="002060"/>
                </a:solidFill>
                <a:latin typeface="Bookman Old Style" panose="02050604050505020204" pitchFamily="18" charset="0"/>
                <a:ea typeface="Georgia"/>
                <a:cs typeface="Dubai" panose="020B0503030403030204" pitchFamily="34" charset="-78"/>
                <a:sym typeface="Georgia"/>
              </a:rPr>
              <a:t>Future Scope:</a:t>
            </a:r>
          </a:p>
          <a:p>
            <a:pPr lvl="0" algn="just">
              <a:lnSpc>
                <a:spcPct val="150000"/>
              </a:lnSpc>
            </a:pPr>
            <a:r>
              <a:rPr lang="en-US" dirty="0"/>
              <a:t>that ensures optimal energy distribution during operation. </a:t>
            </a:r>
            <a:endParaRPr lang="en-US" sz="3000" b="1" dirty="0">
              <a:solidFill>
                <a:srgbClr val="002060"/>
              </a:solidFill>
              <a:latin typeface="Bookman Old Style" panose="02050604050505020204" pitchFamily="18" charset="0"/>
              <a:ea typeface="Georgia"/>
              <a:cs typeface="Dubai" panose="020B0503030403030204" pitchFamily="34" charset="-78"/>
              <a:sym typeface="Georgia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90B98CA-BFE4-7D02-393F-2856C17A09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E5D90C-BE40-4037-AC5E-CD620FE48C47}" type="slidenum">
              <a:rPr lang="en-IN" smtClean="0"/>
              <a:t>19</a:t>
            </a:fld>
            <a:endParaRPr lang="en-IN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418D16D3-2D06-D88A-8EE1-A9F696762BA5}"/>
              </a:ext>
            </a:extLst>
          </p:cNvPr>
          <p:cNvSpPr/>
          <p:nvPr/>
        </p:nvSpPr>
        <p:spPr>
          <a:xfrm>
            <a:off x="11407899" y="6176865"/>
            <a:ext cx="615821" cy="577939"/>
          </a:xfrm>
          <a:prstGeom prst="ellipse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18</a:t>
            </a:r>
          </a:p>
        </p:txBody>
      </p:sp>
      <p:sp>
        <p:nvSpPr>
          <p:cNvPr id="15" name="Rectangle 2">
            <a:extLst>
              <a:ext uri="{FF2B5EF4-FFF2-40B4-BE49-F238E27FC236}">
                <a16:creationId xmlns:a16="http://schemas.microsoft.com/office/drawing/2014/main" id="{173946A2-FF1A-A374-B1C0-8E73359AE1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2473" y="1812503"/>
            <a:ext cx="10578508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285750" lvl="0" indent="-285750" defTabSz="9144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Integration of Artificial Intelligence (AI) for autonomous navigation and smart cleaning.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</a:endParaRPr>
          </a:p>
          <a:p>
            <a:pPr marL="285750" lvl="0" indent="-285750" defTabSz="9144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Implementation of IoT technology for real-time monitoring and remote management.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Addition of waste segregation mechanisms for automatic dry and wet waste separation.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Improvement in battery capacity and solar charging for longer operation time.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Deployment in smart cities, hospitals, industries, and disaster management areas for advanced waste management.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Integration of Artificial Intelligence (AI) for autonomous navigation and smart cleaning.</a:t>
            </a:r>
          </a:p>
        </p:txBody>
      </p:sp>
    </p:spTree>
    <p:extLst>
      <p:ext uri="{BB962C8B-B14F-4D97-AF65-F5344CB8AC3E}">
        <p14:creationId xmlns:p14="http://schemas.microsoft.com/office/powerpoint/2010/main" val="84203089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00BF33-1617-DB65-1885-64B226BAA1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7882FE94-B771-FA9C-6394-5FB1B3ED6A0F}"/>
              </a:ext>
            </a:extLst>
          </p:cNvPr>
          <p:cNvGrpSpPr/>
          <p:nvPr/>
        </p:nvGrpSpPr>
        <p:grpSpPr>
          <a:xfrm>
            <a:off x="0" y="33184"/>
            <a:ext cx="12192000" cy="6824816"/>
            <a:chOff x="0" y="33184"/>
            <a:chExt cx="12192000" cy="5924190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BA79A1F0-959A-3C44-93F6-D3E54299D767}"/>
                </a:ext>
              </a:extLst>
            </p:cNvPr>
            <p:cNvSpPr txBox="1"/>
            <p:nvPr/>
          </p:nvSpPr>
          <p:spPr>
            <a:xfrm>
              <a:off x="2167719" y="33184"/>
              <a:ext cx="7818825" cy="97513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1100" b="1" dirty="0">
                  <a:solidFill>
                    <a:srgbClr val="FF9900"/>
                  </a:solidFill>
                  <a:latin typeface="Bookman Old Style" panose="02050604050505020204" pitchFamily="18" charset="0"/>
                </a:rPr>
                <a:t>|| Jai Sri  Gurudev||</a:t>
              </a:r>
            </a:p>
            <a:p>
              <a:pPr algn="ctr"/>
              <a:r>
                <a:rPr lang="en-IN" b="1" dirty="0">
                  <a:latin typeface="Bookman Old Style" panose="02050604050505020204" pitchFamily="18" charset="0"/>
                </a:rPr>
                <a:t> </a:t>
              </a:r>
              <a:r>
                <a:rPr lang="en-IN" sz="2000" b="1" dirty="0">
                  <a:latin typeface="Bookman Old Style" panose="02050604050505020204" pitchFamily="18" charset="0"/>
                </a:rPr>
                <a:t>ADICHUNCHANAGIRI UNIVERSITY</a:t>
              </a:r>
            </a:p>
            <a:p>
              <a:pPr algn="ctr"/>
              <a:r>
                <a:rPr lang="en-IN" b="1" dirty="0">
                  <a:latin typeface="Bookman Old Style" panose="02050604050505020204" pitchFamily="18" charset="0"/>
                </a:rPr>
                <a:t> </a:t>
              </a:r>
              <a:r>
                <a:rPr lang="en-IN" b="1" dirty="0">
                  <a:solidFill>
                    <a:schemeClr val="accent1">
                      <a:lumMod val="20000"/>
                      <a:lumOff val="80000"/>
                    </a:schemeClr>
                  </a:solidFill>
                  <a:latin typeface="Bookman Old Style" panose="02050604050505020204" pitchFamily="18" charset="0"/>
                </a:rPr>
                <a:t>FACULTY OF ENGINEERING AND TECHNOLOGY</a:t>
              </a:r>
            </a:p>
            <a:p>
              <a:pPr algn="ctr"/>
              <a:r>
                <a:rPr lang="en-IN" b="1" dirty="0">
                  <a:solidFill>
                    <a:schemeClr val="accent1">
                      <a:lumMod val="20000"/>
                      <a:lumOff val="80000"/>
                    </a:schemeClr>
                  </a:solidFill>
                  <a:latin typeface="Bookman Old Style" panose="02050604050505020204" pitchFamily="18" charset="0"/>
                </a:rPr>
                <a:t>(BGS INSTITUTE OF TECHNOLOGY)</a:t>
              </a:r>
            </a:p>
          </p:txBody>
        </p: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F1EFB1E4-36BA-E558-992E-3D8B32BBB78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7926" y="166850"/>
              <a:ext cx="800731" cy="923330"/>
            </a:xfrm>
            <a:prstGeom prst="ellipse">
              <a:avLst/>
            </a:prstGeom>
            <a:ln w="63500" cap="rnd">
              <a:solidFill>
                <a:srgbClr val="333333"/>
              </a:solidFill>
            </a:ln>
            <a:effectLst>
              <a:outerShdw blurRad="381000" dist="292100" dir="5400000" sx="-80000" sy="-18000" rotWithShape="0">
                <a:srgbClr val="000000">
                  <a:alpha val="22000"/>
                </a:srgbClr>
              </a:outerShdw>
            </a:effectLst>
            <a:scene3d>
              <a:camera prst="orthographicFront"/>
              <a:lightRig rig="contrasting" dir="t">
                <a:rot lat="0" lon="0" rev="3000000"/>
              </a:lightRig>
            </a:scene3d>
            <a:sp3d contourW="7620">
              <a:bevelT w="95250" h="31750"/>
              <a:contourClr>
                <a:srgbClr val="333333"/>
              </a:contourClr>
            </a:sp3d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44128367-BF92-D25A-D72B-02C3F011540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915591" y="166850"/>
              <a:ext cx="800219" cy="923330"/>
            </a:xfrm>
            <a:prstGeom prst="ellipse">
              <a:avLst/>
            </a:prstGeom>
            <a:ln w="63500" cap="rnd">
              <a:solidFill>
                <a:srgbClr val="333333"/>
              </a:solidFill>
            </a:ln>
            <a:effectLst>
              <a:outerShdw blurRad="381000" dist="292100" dir="5400000" sx="-80000" sy="-18000" rotWithShape="0">
                <a:srgbClr val="000000">
                  <a:alpha val="22000"/>
                </a:srgbClr>
              </a:outerShdw>
            </a:effectLst>
            <a:scene3d>
              <a:camera prst="orthographicFront"/>
              <a:lightRig rig="contrasting" dir="t">
                <a:rot lat="0" lon="0" rev="3000000"/>
              </a:lightRig>
            </a:scene3d>
            <a:sp3d contourW="7620">
              <a:bevelT w="95250" h="31750"/>
              <a:contourClr>
                <a:srgbClr val="333333"/>
              </a:contourClr>
            </a:sp3d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AC9431AB-5DF8-9CAC-F134-8FAB8EB97D02}"/>
                </a:ext>
              </a:extLst>
            </p:cNvPr>
            <p:cNvSpPr txBox="1"/>
            <p:nvPr/>
          </p:nvSpPr>
          <p:spPr>
            <a:xfrm>
              <a:off x="2486518" y="1016282"/>
              <a:ext cx="744855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1400" b="1" dirty="0">
                  <a:solidFill>
                    <a:schemeClr val="accent1">
                      <a:lumMod val="60000"/>
                      <a:lumOff val="40000"/>
                    </a:schemeClr>
                  </a:solidFill>
                  <a:latin typeface="Dubai" panose="020B0503030403030204" pitchFamily="34" charset="-78"/>
                  <a:cs typeface="Dubai" panose="020B0503030403030204" pitchFamily="34" charset="-78"/>
                </a:rPr>
                <a:t>BG Nagara, Nagamangala Taluk, Mandya District, Karnataka, India-571448</a:t>
              </a:r>
            </a:p>
            <a:p>
              <a:pPr algn="ctr"/>
              <a:r>
                <a:rPr lang="en-IN" sz="1400" b="1" dirty="0">
                  <a:solidFill>
                    <a:schemeClr val="accent1">
                      <a:lumMod val="60000"/>
                      <a:lumOff val="40000"/>
                    </a:schemeClr>
                  </a:solidFill>
                  <a:latin typeface="Dubai" panose="020B0503030403030204" pitchFamily="34" charset="-78"/>
                  <a:cs typeface="Dubai" panose="020B0503030403030204" pitchFamily="34" charset="-78"/>
                  <a:hlinkClick r:id="rId5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Tel: 08234-28841-419</a:t>
              </a:r>
              <a:r>
                <a:rPr lang="en-IN" sz="1400" b="1" dirty="0">
                  <a:solidFill>
                    <a:schemeClr val="accent1">
                      <a:lumMod val="60000"/>
                      <a:lumOff val="40000"/>
                    </a:schemeClr>
                  </a:solidFill>
                  <a:latin typeface="Dubai" panose="020B0503030403030204" pitchFamily="34" charset="-78"/>
                  <a:cs typeface="Dubai" panose="020B0503030403030204" pitchFamily="34" charset="-78"/>
                </a:rPr>
                <a:t>, Web: www.bgsit.ac.in</a:t>
              </a:r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9AC4B24B-D99E-B357-F192-95678FBB8FE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clrChange>
                <a:clrFrom>
                  <a:srgbClr val="FAE4EB"/>
                </a:clrFrom>
                <a:clrTo>
                  <a:srgbClr val="FAE4EB">
                    <a:alpha val="0"/>
                  </a:srgbClr>
                </a:clrTo>
              </a:clrChange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saturation sat="4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986543" y="842113"/>
              <a:ext cx="712029" cy="663482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12D856A6-FECE-005A-8446-DBE155D17603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19827" y="898545"/>
              <a:ext cx="615216" cy="607049"/>
            </a:xfrm>
            <a:prstGeom prst="rect">
              <a:avLst/>
            </a:prstGeom>
          </p:spPr>
        </p:pic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1174A08-F6C7-F3E4-01D6-53231B57161C}"/>
                </a:ext>
              </a:extLst>
            </p:cNvPr>
            <p:cNvSpPr/>
            <p:nvPr/>
          </p:nvSpPr>
          <p:spPr>
            <a:xfrm>
              <a:off x="0" y="1539503"/>
              <a:ext cx="12192000" cy="4417871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sp>
        <p:nvSpPr>
          <p:cNvPr id="12" name="Google Shape;76;p15">
            <a:extLst>
              <a:ext uri="{FF2B5EF4-FFF2-40B4-BE49-F238E27FC236}">
                <a16:creationId xmlns:a16="http://schemas.microsoft.com/office/drawing/2014/main" id="{AEE29CEC-01C6-BE25-505D-D2401F94219A}"/>
              </a:ext>
            </a:extLst>
          </p:cNvPr>
          <p:cNvSpPr txBox="1"/>
          <p:nvPr/>
        </p:nvSpPr>
        <p:spPr>
          <a:xfrm>
            <a:off x="163368" y="1858814"/>
            <a:ext cx="9232559" cy="6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/>
            <a:r>
              <a:rPr lang="en-US" sz="3000" b="1" dirty="0">
                <a:solidFill>
                  <a:srgbClr val="002060"/>
                </a:solidFill>
                <a:latin typeface="Bookman Old Style" panose="02050604050505020204" pitchFamily="18" charset="0"/>
                <a:ea typeface="Georgia"/>
                <a:cs typeface="Dubai" panose="020B0503030403030204" pitchFamily="34" charset="-78"/>
                <a:sym typeface="Georgia"/>
              </a:rPr>
              <a:t>References: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431409F-4259-017B-9926-53C18B1310A7}"/>
              </a:ext>
            </a:extLst>
          </p:cNvPr>
          <p:cNvSpPr txBox="1"/>
          <p:nvPr/>
        </p:nvSpPr>
        <p:spPr>
          <a:xfrm>
            <a:off x="207322" y="2481964"/>
            <a:ext cx="11146478" cy="37888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solidFill>
                  <a:schemeClr val="bg1"/>
                </a:solidFill>
              </a:rPr>
              <a:t>[1]</a:t>
            </a:r>
            <a:r>
              <a:rPr lang="en-US" dirty="0">
                <a:solidFill>
                  <a:schemeClr val="bg1"/>
                </a:solidFill>
              </a:rPr>
              <a:t> T. Bright and S. Adali, </a:t>
            </a:r>
            <a:r>
              <a:rPr lang="en-US" i="1" dirty="0">
                <a:solidFill>
                  <a:schemeClr val="bg1"/>
                </a:solidFill>
              </a:rPr>
              <a:t>"The Application of AI Powered Drone Technology with Computer Vision and Deep Learning Networks in Waste Management,"</a:t>
            </a:r>
            <a:r>
              <a:rPr lang="en-US" dirty="0">
                <a:solidFill>
                  <a:schemeClr val="bg1"/>
                </a:solidFill>
              </a:rPr>
              <a:t> Drones, 2025.DOI: 10.3390/drones9080550</a:t>
            </a:r>
          </a:p>
          <a:p>
            <a:pPr>
              <a:lnSpc>
                <a:spcPct val="150000"/>
              </a:lnSpc>
            </a:pPr>
            <a:r>
              <a:rPr lang="en-US" b="1" dirty="0">
                <a:solidFill>
                  <a:schemeClr val="bg1"/>
                </a:solidFill>
              </a:rPr>
              <a:t>[2]</a:t>
            </a:r>
            <a:r>
              <a:rPr lang="en-US" dirty="0">
                <a:solidFill>
                  <a:schemeClr val="bg1"/>
                </a:solidFill>
              </a:rPr>
              <a:t> D. D. Sharma and J. Lin, </a:t>
            </a:r>
            <a:r>
              <a:rPr lang="en-US" i="1" dirty="0">
                <a:solidFill>
                  <a:schemeClr val="bg1"/>
                </a:solidFill>
              </a:rPr>
              <a:t>"Secure Learning-Based Coordinated UAV–UGV Framework Design for Medical Waste Transportation,"</a:t>
            </a:r>
            <a:r>
              <a:rPr lang="en-US" dirty="0">
                <a:solidFill>
                  <a:schemeClr val="bg1"/>
                </a:solidFill>
              </a:rPr>
              <a:t> Frontiers in Remote Sensing, 2024.DOI: 10.3389/frsen.2024.1351703</a:t>
            </a:r>
          </a:p>
          <a:p>
            <a:pPr>
              <a:lnSpc>
                <a:spcPct val="150000"/>
              </a:lnSpc>
            </a:pPr>
            <a:r>
              <a:rPr lang="en-US" b="1" dirty="0">
                <a:solidFill>
                  <a:schemeClr val="bg1"/>
                </a:solidFill>
              </a:rPr>
              <a:t>[3]</a:t>
            </a:r>
            <a:r>
              <a:rPr lang="en-US" dirty="0">
                <a:solidFill>
                  <a:schemeClr val="bg1"/>
                </a:solidFill>
              </a:rPr>
              <a:t> I. Munasinghe et al., </a:t>
            </a:r>
            <a:r>
              <a:rPr lang="en-US" i="1" dirty="0">
                <a:solidFill>
                  <a:schemeClr val="bg1"/>
                </a:solidFill>
              </a:rPr>
              <a:t>"A Comprehensive Review of UAV–UGV Collaboration: Advancements and Challenges,"</a:t>
            </a:r>
            <a:r>
              <a:rPr lang="en-US" dirty="0">
                <a:solidFill>
                  <a:schemeClr val="bg1"/>
                </a:solidFill>
              </a:rPr>
              <a:t> Drones, 2024.</a:t>
            </a:r>
          </a:p>
          <a:p>
            <a:pPr>
              <a:lnSpc>
                <a:spcPct val="150000"/>
              </a:lnSpc>
            </a:pPr>
            <a:r>
              <a:rPr lang="en-US" b="1" dirty="0">
                <a:solidFill>
                  <a:schemeClr val="bg1"/>
                </a:solidFill>
              </a:rPr>
              <a:t>[4]</a:t>
            </a:r>
            <a:r>
              <a:rPr lang="en-US" dirty="0">
                <a:solidFill>
                  <a:schemeClr val="bg1"/>
                </a:solidFill>
              </a:rPr>
              <a:t> Z. Ren et al., </a:t>
            </a:r>
            <a:r>
              <a:rPr lang="en-US" i="1" dirty="0">
                <a:solidFill>
                  <a:schemeClr val="bg1"/>
                </a:solidFill>
              </a:rPr>
              <a:t>"Integrating UAV, UGV and UAV–UGV Collaboration in Future Smart Agriculture: Review and Outlook,"</a:t>
            </a:r>
            <a:r>
              <a:rPr lang="en-US" dirty="0">
                <a:solidFill>
                  <a:schemeClr val="bg1"/>
                </a:solidFill>
              </a:rPr>
              <a:t> Computers and Electronics in Agriculture, 2024.</a:t>
            </a:r>
            <a:br>
              <a:rPr lang="en-US" dirty="0">
                <a:solidFill>
                  <a:schemeClr val="bg1"/>
                </a:solidFill>
              </a:rPr>
            </a:b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FBDFA24-8A31-A988-4688-9AEC7D5987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E5D90C-BE40-4037-AC5E-CD620FE48C47}" type="slidenum">
              <a:rPr lang="en-IN" smtClean="0"/>
              <a:t>20</a:t>
            </a:fld>
            <a:endParaRPr lang="en-IN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B98D184D-6314-CBC6-0146-4D75F763E7C3}"/>
              </a:ext>
            </a:extLst>
          </p:cNvPr>
          <p:cNvSpPr/>
          <p:nvPr/>
        </p:nvSpPr>
        <p:spPr>
          <a:xfrm>
            <a:off x="11407899" y="6176865"/>
            <a:ext cx="615821" cy="577939"/>
          </a:xfrm>
          <a:prstGeom prst="ellipse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374460244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FAC56C-EB1F-61A8-215A-3CC10F69F3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C3FD6C53-ADB2-69E2-BB55-CD987515721D}"/>
              </a:ext>
            </a:extLst>
          </p:cNvPr>
          <p:cNvGrpSpPr/>
          <p:nvPr/>
        </p:nvGrpSpPr>
        <p:grpSpPr>
          <a:xfrm>
            <a:off x="0" y="33184"/>
            <a:ext cx="12192000" cy="6824816"/>
            <a:chOff x="0" y="33184"/>
            <a:chExt cx="12192000" cy="5924190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4545D193-B91A-EC29-77C5-4C8B6A931E88}"/>
                </a:ext>
              </a:extLst>
            </p:cNvPr>
            <p:cNvSpPr txBox="1"/>
            <p:nvPr/>
          </p:nvSpPr>
          <p:spPr>
            <a:xfrm>
              <a:off x="2167719" y="33184"/>
              <a:ext cx="7818825" cy="97513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1100" b="1" dirty="0">
                  <a:solidFill>
                    <a:srgbClr val="FF9900"/>
                  </a:solidFill>
                  <a:latin typeface="Bookman Old Style" panose="02050604050505020204" pitchFamily="18" charset="0"/>
                </a:rPr>
                <a:t>|| Jai Sri  Gurudev||</a:t>
              </a:r>
            </a:p>
            <a:p>
              <a:pPr algn="ctr"/>
              <a:r>
                <a:rPr lang="en-IN" b="1" dirty="0">
                  <a:latin typeface="Bookman Old Style" panose="02050604050505020204" pitchFamily="18" charset="0"/>
                </a:rPr>
                <a:t> </a:t>
              </a:r>
              <a:r>
                <a:rPr lang="en-IN" sz="2000" b="1" dirty="0">
                  <a:latin typeface="Bookman Old Style" panose="02050604050505020204" pitchFamily="18" charset="0"/>
                </a:rPr>
                <a:t>ADICHUNCHANAGIRI UNIVERSITY</a:t>
              </a:r>
            </a:p>
            <a:p>
              <a:pPr algn="ctr"/>
              <a:r>
                <a:rPr lang="en-IN" b="1" dirty="0">
                  <a:latin typeface="Bookman Old Style" panose="02050604050505020204" pitchFamily="18" charset="0"/>
                </a:rPr>
                <a:t> </a:t>
              </a:r>
              <a:r>
                <a:rPr lang="en-IN" b="1" dirty="0">
                  <a:solidFill>
                    <a:schemeClr val="accent1">
                      <a:lumMod val="20000"/>
                      <a:lumOff val="80000"/>
                    </a:schemeClr>
                  </a:solidFill>
                  <a:latin typeface="Bookman Old Style" panose="02050604050505020204" pitchFamily="18" charset="0"/>
                </a:rPr>
                <a:t>FACULTY </a:t>
              </a:r>
              <a:r>
                <a:rPr lang="en-IN" b="1">
                  <a:solidFill>
                    <a:schemeClr val="accent1">
                      <a:lumMod val="20000"/>
                      <a:lumOff val="80000"/>
                    </a:schemeClr>
                  </a:solidFill>
                  <a:latin typeface="Bookman Old Style" panose="02050604050505020204" pitchFamily="18" charset="0"/>
                </a:rPr>
                <a:t>OF ENGINEERING AND </a:t>
              </a:r>
              <a:r>
                <a:rPr lang="en-IN" b="1" dirty="0">
                  <a:solidFill>
                    <a:schemeClr val="accent1">
                      <a:lumMod val="20000"/>
                      <a:lumOff val="80000"/>
                    </a:schemeClr>
                  </a:solidFill>
                  <a:latin typeface="Bookman Old Style" panose="02050604050505020204" pitchFamily="18" charset="0"/>
                </a:rPr>
                <a:t>TECHNOLOGY</a:t>
              </a:r>
            </a:p>
            <a:p>
              <a:pPr algn="ctr"/>
              <a:r>
                <a:rPr lang="en-IN" b="1" dirty="0">
                  <a:solidFill>
                    <a:schemeClr val="accent1">
                      <a:lumMod val="20000"/>
                      <a:lumOff val="80000"/>
                    </a:schemeClr>
                  </a:solidFill>
                  <a:latin typeface="Bookman Old Style" panose="02050604050505020204" pitchFamily="18" charset="0"/>
                </a:rPr>
                <a:t>(BGS INSTITUTE OF TECHNOLOGY)</a:t>
              </a:r>
            </a:p>
          </p:txBody>
        </p: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48A7B3A8-4711-096E-B096-D13B6629045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7926" y="166850"/>
              <a:ext cx="800731" cy="923330"/>
            </a:xfrm>
            <a:prstGeom prst="ellipse">
              <a:avLst/>
            </a:prstGeom>
            <a:ln w="63500" cap="rnd">
              <a:solidFill>
                <a:srgbClr val="333333"/>
              </a:solidFill>
            </a:ln>
            <a:effectLst>
              <a:outerShdw blurRad="381000" dist="292100" dir="5400000" sx="-80000" sy="-18000" rotWithShape="0">
                <a:srgbClr val="000000">
                  <a:alpha val="22000"/>
                </a:srgbClr>
              </a:outerShdw>
            </a:effectLst>
            <a:scene3d>
              <a:camera prst="orthographicFront"/>
              <a:lightRig rig="contrasting" dir="t">
                <a:rot lat="0" lon="0" rev="3000000"/>
              </a:lightRig>
            </a:scene3d>
            <a:sp3d contourW="7620">
              <a:bevelT w="95250" h="31750"/>
              <a:contourClr>
                <a:srgbClr val="333333"/>
              </a:contourClr>
            </a:sp3d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D76ECDDF-1DD4-2C36-DBD1-BB54BA84283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915591" y="166850"/>
              <a:ext cx="800219" cy="923330"/>
            </a:xfrm>
            <a:prstGeom prst="ellipse">
              <a:avLst/>
            </a:prstGeom>
            <a:ln w="63500" cap="rnd">
              <a:solidFill>
                <a:srgbClr val="333333"/>
              </a:solidFill>
            </a:ln>
            <a:effectLst>
              <a:outerShdw blurRad="381000" dist="292100" dir="5400000" sx="-80000" sy="-18000" rotWithShape="0">
                <a:srgbClr val="000000">
                  <a:alpha val="22000"/>
                </a:srgbClr>
              </a:outerShdw>
            </a:effectLst>
            <a:scene3d>
              <a:camera prst="orthographicFront"/>
              <a:lightRig rig="contrasting" dir="t">
                <a:rot lat="0" lon="0" rev="3000000"/>
              </a:lightRig>
            </a:scene3d>
            <a:sp3d contourW="7620">
              <a:bevelT w="95250" h="31750"/>
              <a:contourClr>
                <a:srgbClr val="333333"/>
              </a:contourClr>
            </a:sp3d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41B32F78-C24A-842E-AB01-CC85B4F6A541}"/>
                </a:ext>
              </a:extLst>
            </p:cNvPr>
            <p:cNvSpPr txBox="1"/>
            <p:nvPr/>
          </p:nvSpPr>
          <p:spPr>
            <a:xfrm>
              <a:off x="2537994" y="1133920"/>
              <a:ext cx="744855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1400" b="1" dirty="0">
                  <a:solidFill>
                    <a:schemeClr val="accent1">
                      <a:lumMod val="60000"/>
                      <a:lumOff val="40000"/>
                    </a:schemeClr>
                  </a:solidFill>
                  <a:latin typeface="Dubai" panose="020B0503030403030204" pitchFamily="34" charset="-78"/>
                  <a:cs typeface="Dubai" panose="020B0503030403030204" pitchFamily="34" charset="-78"/>
                </a:rPr>
                <a:t>BG Nagara, Nagamangala Taluk, Mandya District, Karnataka, India-571448</a:t>
              </a:r>
            </a:p>
            <a:p>
              <a:pPr algn="ctr"/>
              <a:r>
                <a:rPr lang="en-IN" sz="1400" b="1" dirty="0">
                  <a:solidFill>
                    <a:schemeClr val="accent1">
                      <a:lumMod val="60000"/>
                      <a:lumOff val="40000"/>
                    </a:schemeClr>
                  </a:solidFill>
                  <a:latin typeface="Dubai" panose="020B0503030403030204" pitchFamily="34" charset="-78"/>
                  <a:cs typeface="Dubai" panose="020B0503030403030204" pitchFamily="34" charset="-78"/>
                  <a:hlinkClick r:id="rId4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Tel: 08234-28841-419</a:t>
              </a:r>
              <a:r>
                <a:rPr lang="en-IN" sz="1400" b="1" dirty="0">
                  <a:solidFill>
                    <a:schemeClr val="accent1">
                      <a:lumMod val="60000"/>
                      <a:lumOff val="40000"/>
                    </a:schemeClr>
                  </a:solidFill>
                  <a:latin typeface="Dubai" panose="020B0503030403030204" pitchFamily="34" charset="-78"/>
                  <a:cs typeface="Dubai" panose="020B0503030403030204" pitchFamily="34" charset="-78"/>
                </a:rPr>
                <a:t>, Web: www.bgsit.ac.in</a:t>
              </a:r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EBFDDE9A-A92C-B5E6-A0EF-4468246CBCA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clrChange>
                <a:clrFrom>
                  <a:srgbClr val="FAE4EB"/>
                </a:clrFrom>
                <a:clrTo>
                  <a:srgbClr val="FAE4EB">
                    <a:alpha val="0"/>
                  </a:srgbClr>
                </a:clrTo>
              </a:clrChange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saturation sat="4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997660" y="900626"/>
              <a:ext cx="712029" cy="663482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BAF21C8C-DD78-BDD0-629A-85BDC54F21FC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19827" y="898545"/>
              <a:ext cx="615216" cy="607049"/>
            </a:xfrm>
            <a:prstGeom prst="rect">
              <a:avLst/>
            </a:prstGeom>
          </p:spPr>
        </p:pic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28AF19D9-1AE0-990C-7D06-9807B329FF72}"/>
                </a:ext>
              </a:extLst>
            </p:cNvPr>
            <p:cNvSpPr/>
            <p:nvPr/>
          </p:nvSpPr>
          <p:spPr>
            <a:xfrm>
              <a:off x="0" y="1664821"/>
              <a:ext cx="12192000" cy="4292553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sp>
        <p:nvSpPr>
          <p:cNvPr id="2" name="Google Shape;76;p15">
            <a:extLst>
              <a:ext uri="{FF2B5EF4-FFF2-40B4-BE49-F238E27FC236}">
                <a16:creationId xmlns:a16="http://schemas.microsoft.com/office/drawing/2014/main" id="{1E63163A-4472-E720-8F31-EA2086ADA294}"/>
              </a:ext>
            </a:extLst>
          </p:cNvPr>
          <p:cNvSpPr txBox="1"/>
          <p:nvPr/>
        </p:nvSpPr>
        <p:spPr>
          <a:xfrm>
            <a:off x="4091649" y="3123411"/>
            <a:ext cx="4008701" cy="9540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ctr"/>
            <a:r>
              <a:rPr lang="en-US" sz="5000" b="1" dirty="0">
                <a:solidFill>
                  <a:srgbClr val="002060"/>
                </a:solidFill>
                <a:latin typeface="Bookman Old Style" panose="02050604050505020204" pitchFamily="18" charset="0"/>
                <a:ea typeface="Georgia"/>
                <a:cs typeface="Dubai" panose="020B0503030403030204" pitchFamily="34" charset="-78"/>
                <a:sym typeface="Georgia"/>
              </a:rPr>
              <a:t>Thank You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AAEBA2D-4704-5C9C-93DE-5D98381D89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E5D90C-BE40-4037-AC5E-CD620FE48C47}" type="slidenum">
              <a:rPr lang="en-IN" smtClean="0"/>
              <a:t>21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21806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Depth">
  <a:themeElements>
    <a:clrScheme name="Depth">
      <a:dk1>
        <a:sysClr val="windowText" lastClr="000000"/>
      </a:dk1>
      <a:lt1>
        <a:sysClr val="window" lastClr="FFFFFF"/>
      </a:lt1>
      <a:dk2>
        <a:srgbClr val="455F51"/>
      </a:dk2>
      <a:lt2>
        <a:srgbClr val="94D7E4"/>
      </a:lt2>
      <a:accent1>
        <a:srgbClr val="41AEBD"/>
      </a:accent1>
      <a:accent2>
        <a:srgbClr val="97E9D5"/>
      </a:accent2>
      <a:accent3>
        <a:srgbClr val="A2CF49"/>
      </a:accent3>
      <a:accent4>
        <a:srgbClr val="608F3D"/>
      </a:accent4>
      <a:accent5>
        <a:srgbClr val="F4DE3A"/>
      </a:accent5>
      <a:accent6>
        <a:srgbClr val="FCB11C"/>
      </a:accent6>
      <a:hlink>
        <a:srgbClr val="FBCA98"/>
      </a:hlink>
      <a:folHlink>
        <a:srgbClr val="D3B86D"/>
      </a:folHlink>
    </a:clrScheme>
    <a:fontScheme name="Depth">
      <a:majorFont>
        <a:latin typeface="Corbel" panose="020B0503020204020204"/>
        <a:ea typeface=""/>
        <a:cs typeface=""/>
        <a:font script="Jpan" typeface="メイリオ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メイリオ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epth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epth" id="{7BEAFC2A-325C-49C4-AC08-2B765DA903F9}" vid="{1735E755-43E6-43AA-ABA2-C989ECC79AF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2981</TotalTime>
  <Words>2719</Words>
  <Application>Microsoft Office PowerPoint</Application>
  <PresentationFormat>Widescreen</PresentationFormat>
  <Paragraphs>387</Paragraphs>
  <Slides>21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31" baseType="lpstr">
      <vt:lpstr>Arial</vt:lpstr>
      <vt:lpstr>Bookman Old Style</vt:lpstr>
      <vt:lpstr>Calibri</vt:lpstr>
      <vt:lpstr>Corbel</vt:lpstr>
      <vt:lpstr>Dubai</vt:lpstr>
      <vt:lpstr>Dubai Medium</vt:lpstr>
      <vt:lpstr>Georgia</vt:lpstr>
      <vt:lpstr>Sitka Text Semibold</vt:lpstr>
      <vt:lpstr>Times New Roman</vt:lpstr>
      <vt:lpstr>Depth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Dr. Manojkumar S B</dc:creator>
  <cp:keywords>Dr. Manojkumar S B, IEEE ICRASET-2024</cp:keywords>
  <cp:lastModifiedBy>Nagashree M</cp:lastModifiedBy>
  <cp:revision>45</cp:revision>
  <dcterms:created xsi:type="dcterms:W3CDTF">2024-11-10T15:53:00Z</dcterms:created>
  <dcterms:modified xsi:type="dcterms:W3CDTF">2026-06-03T10:01:03Z</dcterms:modified>
</cp:coreProperties>
</file>